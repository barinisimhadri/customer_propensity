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Oswald" panose="00000500000000000000" pitchFamily="2" charset="0"/>
      <p:regular r:id="rId11"/>
      <p:bold r:id="rId12"/>
    </p:embeddedFont>
    <p:embeddedFont>
      <p:font typeface="Source Code Pro" panose="020B0509030403020204" pitchFamily="49"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8F6C26-83ED-4648-95B8-D62A05D45286}">
  <a:tblStyle styleId="{AF8F6C26-83ED-4648-95B8-D62A05D4528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68" y="36"/>
      </p:cViewPr>
      <p:guideLst>
        <p:guide orient="horz" pos="1620"/>
        <p:guide pos="2880"/>
      </p:guideLst>
    </p:cSldViewPr>
  </p:slideViewPr>
  <p:notesTextViewPr>
    <p:cViewPr>
      <p:scale>
        <a:sx n="1" d="1"/>
        <a:sy n="1" d="1"/>
      </p:scale>
      <p:origin x="0" y="0"/>
    </p:cViewPr>
  </p:notesTextViewPr>
  <p:notesViewPr>
    <p:cSldViewPr snapToGrid="0">
      <p:cViewPr varScale="1">
        <p:scale>
          <a:sx n="48" d="100"/>
          <a:sy n="48" d="100"/>
        </p:scale>
        <p:origin x="2684"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handoutMaster" Target="handoutMasters/handout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132868-EA58-CD56-3650-0D32B5358B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0266137-5D29-1B49-9279-F32188AB01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6F2B10-7AF3-4856-A0BB-7892075FA288}" type="datetimeFigureOut">
              <a:rPr lang="en-IN" smtClean="0"/>
              <a:t>30-06-2022</a:t>
            </a:fld>
            <a:endParaRPr lang="en-IN"/>
          </a:p>
        </p:txBody>
      </p:sp>
      <p:sp>
        <p:nvSpPr>
          <p:cNvPr id="4" name="Footer Placeholder 3">
            <a:extLst>
              <a:ext uri="{FF2B5EF4-FFF2-40B4-BE49-F238E27FC236}">
                <a16:creationId xmlns:a16="http://schemas.microsoft.com/office/drawing/2014/main" id="{04B8C40C-1347-E880-8BCB-10EB31DC12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DDFAD80-BDE3-E8EA-C116-1AC67F19B8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57D22C-EA8D-4328-904B-A1E4FB5E9CB9}" type="slidenum">
              <a:rPr lang="en-IN" smtClean="0"/>
              <a:t>‹#›</a:t>
            </a:fld>
            <a:endParaRPr lang="en-IN"/>
          </a:p>
        </p:txBody>
      </p:sp>
    </p:spTree>
    <p:extLst>
      <p:ext uri="{BB962C8B-B14F-4D97-AF65-F5344CB8AC3E}">
        <p14:creationId xmlns:p14="http://schemas.microsoft.com/office/powerpoint/2010/main" val="2114668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2f83cec6cc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2f83cec6cc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2f83cec6cc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2f83cec6cc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2f83cec6cc_0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2f83cec6cc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12f83cec6cc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12f83cec6cc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2f83cec6cc_0_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2f83cec6cc_0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2f83cec6cc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2f83cec6cc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430800" y="1889700"/>
            <a:ext cx="8282400" cy="15165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6" name="Google Shape;26;p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35" name="Google Shape;35;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 name="Google Shape;36;p7"/>
          <p:cNvSpPr txBox="1">
            <a:spLocks noGrp="1"/>
          </p:cNvSpPr>
          <p:nvPr>
            <p:ph type="body" idx="1"/>
          </p:nvPr>
        </p:nvSpPr>
        <p:spPr>
          <a:xfrm>
            <a:off x="311700" y="1618204"/>
            <a:ext cx="2808000" cy="29508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90250" y="528900"/>
            <a:ext cx="5678100" cy="4085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44" name="Google Shape;44;p9"/>
          <p:cNvSpPr txBox="1">
            <a:spLocks noGrp="1"/>
          </p:cNvSpPr>
          <p:nvPr>
            <p:ph type="title"/>
          </p:nvPr>
        </p:nvSpPr>
        <p:spPr>
          <a:xfrm>
            <a:off x="265500" y="1078750"/>
            <a:ext cx="4045200" cy="1789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a:endParaRPr/>
          </a:p>
        </p:txBody>
      </p:sp>
      <p:sp>
        <p:nvSpPr>
          <p:cNvPr id="45" name="Google Shape;45;p9"/>
          <p:cNvSpPr txBox="1">
            <a:spLocks noGrp="1"/>
          </p:cNvSpPr>
          <p:nvPr>
            <p:ph type="subTitle" idx="1"/>
          </p:nvPr>
        </p:nvSpPr>
        <p:spPr>
          <a:xfrm>
            <a:off x="265500" y="29214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
        <p:nvSpPr>
          <p:cNvPr id="2" name="TextBox 1">
            <a:extLst>
              <a:ext uri="{FF2B5EF4-FFF2-40B4-BE49-F238E27FC236}">
                <a16:creationId xmlns:a16="http://schemas.microsoft.com/office/drawing/2014/main" id="{CCE0308C-E94E-B6C1-00EA-0414FE293C9A}"/>
              </a:ext>
            </a:extLst>
          </p:cNvPr>
          <p:cNvSpPr txBox="1"/>
          <p:nvPr userDrawn="1"/>
        </p:nvSpPr>
        <p:spPr>
          <a:xfrm>
            <a:off x="6312020" y="4435614"/>
            <a:ext cx="2911466" cy="707886"/>
          </a:xfrm>
          <a:prstGeom prst="rect">
            <a:avLst/>
          </a:prstGeom>
          <a:noFill/>
        </p:spPr>
        <p:txBody>
          <a:bodyPr wrap="square" rtlCol="0">
            <a:spAutoFit/>
          </a:bodyPr>
          <a:lstStyle/>
          <a:p>
            <a:pPr algn="ctr"/>
            <a:r>
              <a:rPr lang="en-IN" sz="4000" dirty="0">
                <a:solidFill>
                  <a:schemeClr val="tx2">
                    <a:lumMod val="20000"/>
                    <a:lumOff val="80000"/>
                  </a:schemeClr>
                </a:solidFill>
              </a:rPr>
              <a:t>ProjectPro</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1768875" y="897525"/>
            <a:ext cx="5386500" cy="18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700"/>
              <a:t>Propensity Modeling</a:t>
            </a:r>
            <a:endParaRPr sz="3700"/>
          </a:p>
          <a:p>
            <a:pPr marL="0" lvl="0" indent="0" algn="ctr" rtl="0">
              <a:spcBef>
                <a:spcPts val="0"/>
              </a:spcBef>
              <a:spcAft>
                <a:spcPts val="0"/>
              </a:spcAft>
              <a:buSzPts val="990"/>
              <a:buNone/>
            </a:pPr>
            <a:r>
              <a:rPr lang="en" sz="3700"/>
              <a:t>for an E-Commerce Company</a:t>
            </a:r>
            <a:endParaRPr sz="3700"/>
          </a:p>
        </p:txBody>
      </p:sp>
      <p:sp>
        <p:nvSpPr>
          <p:cNvPr id="63" name="Google Shape;63;p13"/>
          <p:cNvSpPr txBox="1">
            <a:spLocks noGrp="1"/>
          </p:cNvSpPr>
          <p:nvPr>
            <p:ph type="subTitle" idx="1"/>
          </p:nvPr>
        </p:nvSpPr>
        <p:spPr>
          <a:xfrm>
            <a:off x="2444250" y="3329575"/>
            <a:ext cx="4255500" cy="6954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1800"/>
              <a:t>Concept Guide</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Contents:</a:t>
            </a:r>
            <a:endParaRPr sz="3000"/>
          </a:p>
        </p:txBody>
      </p:sp>
      <p:sp>
        <p:nvSpPr>
          <p:cNvPr id="69" name="Google Shape;69;p14"/>
          <p:cNvSpPr txBox="1">
            <a:spLocks noGrp="1"/>
          </p:cNvSpPr>
          <p:nvPr>
            <p:ph type="body" idx="1"/>
          </p:nvPr>
        </p:nvSpPr>
        <p:spPr>
          <a:xfrm>
            <a:off x="311700" y="1618200"/>
            <a:ext cx="8573400" cy="3289500"/>
          </a:xfrm>
          <a:prstGeom prst="rect">
            <a:avLst/>
          </a:prstGeom>
          <a:ln w="9525" cap="flat" cmpd="sng">
            <a:solidFill>
              <a:srgbClr val="CCCCCC"/>
            </a:solidFill>
            <a:prstDash val="solid"/>
            <a:round/>
            <a:headEnd type="none" w="sm" len="sm"/>
            <a:tailEnd type="none" w="sm" len="sm"/>
          </a:ln>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 sz="1700"/>
              <a:t>Business Problem</a:t>
            </a:r>
            <a:endParaRPr sz="1700"/>
          </a:p>
          <a:p>
            <a:pPr marL="457200" lvl="0" indent="-336550" algn="l" rtl="0">
              <a:spcBef>
                <a:spcPts val="0"/>
              </a:spcBef>
              <a:spcAft>
                <a:spcPts val="0"/>
              </a:spcAft>
              <a:buSzPts val="1700"/>
              <a:buChar char="●"/>
            </a:pPr>
            <a:r>
              <a:rPr lang="en" sz="1700"/>
              <a:t>Data Summary</a:t>
            </a:r>
            <a:endParaRPr sz="1700"/>
          </a:p>
          <a:p>
            <a:pPr marL="457200" lvl="0" indent="-336550" algn="l" rtl="0">
              <a:spcBef>
                <a:spcPts val="0"/>
              </a:spcBef>
              <a:spcAft>
                <a:spcPts val="0"/>
              </a:spcAft>
              <a:buSzPts val="1700"/>
              <a:buChar char="●"/>
            </a:pPr>
            <a:r>
              <a:rPr lang="en" sz="1700"/>
              <a:t>Propensity Modeling - Concept</a:t>
            </a:r>
            <a:endParaRPr sz="1700"/>
          </a:p>
          <a:p>
            <a:pPr marL="457200" lvl="0" indent="-336550" algn="l" rtl="0">
              <a:spcBef>
                <a:spcPts val="0"/>
              </a:spcBef>
              <a:spcAft>
                <a:spcPts val="0"/>
              </a:spcAft>
              <a:buSzPts val="1700"/>
              <a:buChar char="●"/>
            </a:pPr>
            <a:r>
              <a:rPr lang="en" sz="1700"/>
              <a:t>Propensity Modeling - Real world examples</a:t>
            </a:r>
            <a:endParaRPr sz="1700"/>
          </a:p>
          <a:p>
            <a:pPr marL="457200" lvl="0" indent="-336550" algn="l" rtl="0">
              <a:spcBef>
                <a:spcPts val="0"/>
              </a:spcBef>
              <a:spcAft>
                <a:spcPts val="0"/>
              </a:spcAft>
              <a:buSzPts val="1700"/>
              <a:buChar char="●"/>
            </a:pPr>
            <a:r>
              <a:rPr lang="en" sz="1700"/>
              <a:t>Propensity Modeling - Trigger based model</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Business Problem</a:t>
            </a:r>
            <a:endParaRPr sz="3000"/>
          </a:p>
        </p:txBody>
      </p:sp>
      <p:sp>
        <p:nvSpPr>
          <p:cNvPr id="75" name="Google Shape;75;p15"/>
          <p:cNvSpPr txBox="1">
            <a:spLocks noGrp="1"/>
          </p:cNvSpPr>
          <p:nvPr>
            <p:ph type="body" idx="1"/>
          </p:nvPr>
        </p:nvSpPr>
        <p:spPr>
          <a:xfrm>
            <a:off x="311700" y="1618200"/>
            <a:ext cx="8573400" cy="3289500"/>
          </a:xfrm>
          <a:prstGeom prst="rect">
            <a:avLst/>
          </a:prstGeom>
          <a:ln w="9525" cap="flat" cmpd="sng">
            <a:solidFill>
              <a:srgbClr val="CCCCCC"/>
            </a:solidFill>
            <a:prstDash val="solid"/>
            <a:round/>
            <a:headEnd type="none" w="sm" len="sm"/>
            <a:tailEnd type="none" w="sm" len="sm"/>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sz="1700"/>
              <a:t>Our Client is an early stage e-commerce company selling various products from daily essentials (such as Dairy &amp; vegetables) to high end electronics and home appliances.</a:t>
            </a:r>
            <a:endParaRPr sz="1700"/>
          </a:p>
          <a:p>
            <a:pPr marL="0" lvl="0" indent="0" algn="l" rtl="0">
              <a:spcBef>
                <a:spcPts val="1200"/>
              </a:spcBef>
              <a:spcAft>
                <a:spcPts val="0"/>
              </a:spcAft>
              <a:buNone/>
            </a:pPr>
            <a:r>
              <a:rPr lang="en" sz="1700"/>
              <a:t>It is a one year old company and they are witnessing many people coming to their platform and searching products but only few end up purchasing.</a:t>
            </a:r>
            <a:endParaRPr sz="1700"/>
          </a:p>
          <a:p>
            <a:pPr marL="0" lvl="0" indent="0" algn="l" rtl="0">
              <a:spcBef>
                <a:spcPts val="1200"/>
              </a:spcBef>
              <a:spcAft>
                <a:spcPts val="0"/>
              </a:spcAft>
              <a:buNone/>
            </a:pPr>
            <a:r>
              <a:rPr lang="en" sz="1700"/>
              <a:t>To increase the number of purchases, the business is planning to send discounts or coupons to users to motivate them to buy.</a:t>
            </a:r>
            <a:endParaRPr sz="1700"/>
          </a:p>
          <a:p>
            <a:pPr marL="0" lvl="0" indent="0" algn="l" rtl="0">
              <a:spcBef>
                <a:spcPts val="1200"/>
              </a:spcBef>
              <a:spcAft>
                <a:spcPts val="0"/>
              </a:spcAft>
              <a:buNone/>
            </a:pPr>
            <a:r>
              <a:rPr lang="en" sz="1700"/>
              <a:t>But since it an early stage startup, they have only limited funds for this discount campaign. So, they have reached out to us seeking our help in building a model that would </a:t>
            </a:r>
            <a:r>
              <a:rPr lang="en" sz="1700" b="1"/>
              <a:t>predict the purchase probability of each users in buying a product</a:t>
            </a:r>
            <a:r>
              <a:rPr lang="en" sz="1700"/>
              <a:t>.</a:t>
            </a:r>
            <a:endParaRPr sz="1700"/>
          </a:p>
          <a:p>
            <a:pPr marL="0" lvl="0" indent="0" algn="l" rtl="0">
              <a:spcBef>
                <a:spcPts val="1200"/>
              </a:spcBef>
              <a:spcAft>
                <a:spcPts val="1200"/>
              </a:spcAft>
              <a:buNone/>
            </a:pPr>
            <a:r>
              <a:rPr lang="en" sz="1700"/>
              <a:t>With this probability scores, the marketing team can then filter only those users who need the actual push (in terms of discounts or coupons) to make a purchase rather than sending coupons to users who would have bought the product anyways.</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Data Summary</a:t>
            </a:r>
            <a:endParaRPr sz="3000"/>
          </a:p>
        </p:txBody>
      </p:sp>
      <p:pic>
        <p:nvPicPr>
          <p:cNvPr id="81" name="Google Shape;81;p16"/>
          <p:cNvPicPr preferRelativeResize="0"/>
          <p:nvPr/>
        </p:nvPicPr>
        <p:blipFill>
          <a:blip r:embed="rId3">
            <a:alphaModFix/>
          </a:blip>
          <a:stretch>
            <a:fillRect/>
          </a:stretch>
        </p:blipFill>
        <p:spPr>
          <a:xfrm>
            <a:off x="369325" y="1577675"/>
            <a:ext cx="5246326" cy="3116500"/>
          </a:xfrm>
          <a:prstGeom prst="rect">
            <a:avLst/>
          </a:prstGeom>
          <a:noFill/>
          <a:ln>
            <a:noFill/>
          </a:ln>
        </p:spPr>
      </p:pic>
      <p:graphicFrame>
        <p:nvGraphicFramePr>
          <p:cNvPr id="82" name="Google Shape;82;p16"/>
          <p:cNvGraphicFramePr/>
          <p:nvPr/>
        </p:nvGraphicFramePr>
        <p:xfrm>
          <a:off x="5829300" y="1958375"/>
          <a:ext cx="2952900" cy="2431375"/>
        </p:xfrm>
        <a:graphic>
          <a:graphicData uri="http://schemas.openxmlformats.org/drawingml/2006/table">
            <a:tbl>
              <a:tblPr>
                <a:noFill/>
                <a:tableStyleId>{AF8F6C26-83ED-4648-95B8-D62A05D45286}</a:tableStyleId>
              </a:tblPr>
              <a:tblGrid>
                <a:gridCol w="718875">
                  <a:extLst>
                    <a:ext uri="{9D8B030D-6E8A-4147-A177-3AD203B41FA5}">
                      <a16:colId xmlns:a16="http://schemas.microsoft.com/office/drawing/2014/main" val="20000"/>
                    </a:ext>
                  </a:extLst>
                </a:gridCol>
                <a:gridCol w="2234025">
                  <a:extLst>
                    <a:ext uri="{9D8B030D-6E8A-4147-A177-3AD203B41FA5}">
                      <a16:colId xmlns:a16="http://schemas.microsoft.com/office/drawing/2014/main" val="20001"/>
                    </a:ext>
                  </a:extLst>
                </a:gridCol>
              </a:tblGrid>
              <a:tr h="154625">
                <a:tc>
                  <a:txBody>
                    <a:bodyPr/>
                    <a:lstStyle/>
                    <a:p>
                      <a:pPr marL="0" lvl="0" indent="0" algn="ctr" rtl="0">
                        <a:lnSpc>
                          <a:spcPct val="115000"/>
                        </a:lnSpc>
                        <a:spcBef>
                          <a:spcPts val="0"/>
                        </a:spcBef>
                        <a:spcAft>
                          <a:spcPts val="0"/>
                        </a:spcAft>
                        <a:buNone/>
                      </a:pPr>
                      <a:r>
                        <a:rPr lang="en" sz="700" b="1"/>
                        <a:t>Columns</a:t>
                      </a:r>
                      <a:endParaRPr sz="700" b="1"/>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700" b="1"/>
                        <a:t>Description</a:t>
                      </a:r>
                      <a:endParaRPr sz="700" b="1"/>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0"/>
                  </a:ext>
                </a:extLst>
              </a:tr>
              <a:tr h="190325">
                <a:tc>
                  <a:txBody>
                    <a:bodyPr/>
                    <a:lstStyle/>
                    <a:p>
                      <a:pPr marL="0" lvl="0" indent="0" algn="ctr" rtl="0">
                        <a:lnSpc>
                          <a:spcPct val="115000"/>
                        </a:lnSpc>
                        <a:spcBef>
                          <a:spcPts val="0"/>
                        </a:spcBef>
                        <a:spcAft>
                          <a:spcPts val="0"/>
                        </a:spcAft>
                        <a:buNone/>
                      </a:pPr>
                      <a:r>
                        <a:rPr lang="en" sz="500"/>
                        <a:t>User_id</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Unique identifier for each user</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1"/>
                  </a:ext>
                </a:extLst>
              </a:tr>
              <a:tr h="447275">
                <a:tc>
                  <a:txBody>
                    <a:bodyPr/>
                    <a:lstStyle/>
                    <a:p>
                      <a:pPr marL="0" lvl="0" indent="0" algn="ctr" rtl="0">
                        <a:lnSpc>
                          <a:spcPct val="115000"/>
                        </a:lnSpc>
                        <a:spcBef>
                          <a:spcPts val="0"/>
                        </a:spcBef>
                        <a:spcAft>
                          <a:spcPts val="0"/>
                        </a:spcAft>
                        <a:buNone/>
                      </a:pPr>
                      <a:r>
                        <a:rPr lang="en" sz="500"/>
                        <a:t>Session_id</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Unique identifier generated every time an user comes to the platform</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2"/>
                  </a:ext>
                </a:extLst>
              </a:tr>
              <a:tr h="190325">
                <a:tc>
                  <a:txBody>
                    <a:bodyPr/>
                    <a:lstStyle/>
                    <a:p>
                      <a:pPr marL="0" lvl="0" indent="0" algn="ctr" rtl="0">
                        <a:lnSpc>
                          <a:spcPct val="115000"/>
                        </a:lnSpc>
                        <a:spcBef>
                          <a:spcPts val="0"/>
                        </a:spcBef>
                        <a:spcAft>
                          <a:spcPts val="0"/>
                        </a:spcAft>
                        <a:buNone/>
                      </a:pPr>
                      <a:r>
                        <a:rPr lang="en" sz="500"/>
                        <a:t>DateTime</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Timestamp when an action is performed</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3"/>
                  </a:ext>
                </a:extLst>
              </a:tr>
              <a:tr h="154625">
                <a:tc>
                  <a:txBody>
                    <a:bodyPr/>
                    <a:lstStyle/>
                    <a:p>
                      <a:pPr marL="0" lvl="0" indent="0" algn="ctr" rtl="0">
                        <a:lnSpc>
                          <a:spcPct val="115000"/>
                        </a:lnSpc>
                        <a:spcBef>
                          <a:spcPts val="0"/>
                        </a:spcBef>
                        <a:spcAft>
                          <a:spcPts val="0"/>
                        </a:spcAft>
                        <a:buNone/>
                      </a:pPr>
                      <a:r>
                        <a:rPr lang="en" sz="500"/>
                        <a:t>Category</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Product Category</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4"/>
                  </a:ext>
                </a:extLst>
              </a:tr>
              <a:tr h="190325">
                <a:tc>
                  <a:txBody>
                    <a:bodyPr/>
                    <a:lstStyle/>
                    <a:p>
                      <a:pPr marL="0" lvl="0" indent="0" algn="ctr" rtl="0">
                        <a:lnSpc>
                          <a:spcPct val="115000"/>
                        </a:lnSpc>
                        <a:spcBef>
                          <a:spcPts val="0"/>
                        </a:spcBef>
                        <a:spcAft>
                          <a:spcPts val="0"/>
                        </a:spcAft>
                        <a:buNone/>
                      </a:pPr>
                      <a:r>
                        <a:rPr lang="en" sz="500"/>
                        <a:t>SubCategory</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Product Sub Category</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5"/>
                  </a:ext>
                </a:extLst>
              </a:tr>
              <a:tr h="532900">
                <a:tc>
                  <a:txBody>
                    <a:bodyPr/>
                    <a:lstStyle/>
                    <a:p>
                      <a:pPr marL="0" lvl="0" indent="0" algn="ctr" rtl="0">
                        <a:lnSpc>
                          <a:spcPct val="115000"/>
                        </a:lnSpc>
                        <a:spcBef>
                          <a:spcPts val="0"/>
                        </a:spcBef>
                        <a:spcAft>
                          <a:spcPts val="0"/>
                        </a:spcAft>
                        <a:buNone/>
                      </a:pPr>
                      <a:r>
                        <a:rPr lang="en" sz="500"/>
                        <a:t>Action</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Actions that an user could do in the app such as product view, read reviews, purchase,add to cart etc.</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6"/>
                  </a:ext>
                </a:extLst>
              </a:tr>
              <a:tr h="190325">
                <a:tc>
                  <a:txBody>
                    <a:bodyPr/>
                    <a:lstStyle/>
                    <a:p>
                      <a:pPr marL="0" lvl="0" indent="0" algn="ctr" rtl="0">
                        <a:lnSpc>
                          <a:spcPct val="115000"/>
                        </a:lnSpc>
                        <a:spcBef>
                          <a:spcPts val="0"/>
                        </a:spcBef>
                        <a:spcAft>
                          <a:spcPts val="0"/>
                        </a:spcAft>
                        <a:buNone/>
                      </a:pPr>
                      <a:r>
                        <a:rPr lang="en" sz="500"/>
                        <a:t>Quantity</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Number of products ordered</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7"/>
                  </a:ext>
                </a:extLst>
              </a:tr>
              <a:tr h="190325">
                <a:tc>
                  <a:txBody>
                    <a:bodyPr/>
                    <a:lstStyle/>
                    <a:p>
                      <a:pPr marL="0" lvl="0" indent="0" algn="ctr" rtl="0">
                        <a:lnSpc>
                          <a:spcPct val="115000"/>
                        </a:lnSpc>
                        <a:spcBef>
                          <a:spcPts val="0"/>
                        </a:spcBef>
                        <a:spcAft>
                          <a:spcPts val="0"/>
                        </a:spcAft>
                        <a:buNone/>
                      </a:pPr>
                      <a:r>
                        <a:rPr lang="en" sz="500"/>
                        <a:t>Rate</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Price of a single product</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8"/>
                  </a:ext>
                </a:extLst>
              </a:tr>
              <a:tr h="190325">
                <a:tc>
                  <a:txBody>
                    <a:bodyPr/>
                    <a:lstStyle/>
                    <a:p>
                      <a:pPr marL="0" lvl="0" indent="0" algn="ctr" rtl="0">
                        <a:lnSpc>
                          <a:spcPct val="115000"/>
                        </a:lnSpc>
                        <a:spcBef>
                          <a:spcPts val="0"/>
                        </a:spcBef>
                        <a:spcAft>
                          <a:spcPts val="0"/>
                        </a:spcAft>
                        <a:buNone/>
                      </a:pPr>
                      <a:r>
                        <a:rPr lang="en" sz="500"/>
                        <a:t>Total Price</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500"/>
                        <a:t>Total order price (Quantity X Rate)</a:t>
                      </a:r>
                      <a:endParaRPr sz="500"/>
                    </a:p>
                  </a:txBody>
                  <a:tcPr marL="28575" marR="28575" marT="19050" marB="19050" anchor="b">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Propensity Modeling - Concept</a:t>
            </a:r>
            <a:endParaRPr sz="3000"/>
          </a:p>
        </p:txBody>
      </p:sp>
      <p:sp>
        <p:nvSpPr>
          <p:cNvPr id="88" name="Google Shape;88;p17"/>
          <p:cNvSpPr txBox="1">
            <a:spLocks noGrp="1"/>
          </p:cNvSpPr>
          <p:nvPr>
            <p:ph type="body" idx="1"/>
          </p:nvPr>
        </p:nvSpPr>
        <p:spPr>
          <a:xfrm>
            <a:off x="311700" y="1618200"/>
            <a:ext cx="8573400" cy="3441900"/>
          </a:xfrm>
          <a:prstGeom prst="rect">
            <a:avLst/>
          </a:prstGeom>
          <a:ln w="9525" cap="flat" cmpd="sng">
            <a:solidFill>
              <a:srgbClr val="CCCCCC"/>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950" b="1">
                <a:solidFill>
                  <a:srgbClr val="000000"/>
                </a:solidFill>
                <a:highlight>
                  <a:srgbClr val="FFFFFF"/>
                </a:highlight>
              </a:rPr>
              <a:t>Propensity modeling </a:t>
            </a:r>
            <a:r>
              <a:rPr lang="en" sz="950">
                <a:solidFill>
                  <a:srgbClr val="000000"/>
                </a:solidFill>
                <a:highlight>
                  <a:srgbClr val="FFFFFF"/>
                </a:highlight>
              </a:rPr>
              <a:t>is a set of approaches to building predictive models to forecast behavior of a target audience by analyzing their past behaviors. That is to say, propensity models help identify the likelihood of someone performing a certain action.</a:t>
            </a:r>
            <a:endParaRPr sz="950">
              <a:solidFill>
                <a:srgbClr val="000000"/>
              </a:solidFill>
              <a:highlight>
                <a:srgbClr val="FFFFFF"/>
              </a:highlight>
            </a:endParaRPr>
          </a:p>
          <a:p>
            <a:pPr marL="0" lvl="0" indent="0" algn="l" rtl="0">
              <a:spcBef>
                <a:spcPts val="1200"/>
              </a:spcBef>
              <a:spcAft>
                <a:spcPts val="0"/>
              </a:spcAft>
              <a:buNone/>
            </a:pPr>
            <a:r>
              <a:rPr lang="en" sz="950">
                <a:solidFill>
                  <a:srgbClr val="000000"/>
                </a:solidFill>
                <a:highlight>
                  <a:srgbClr val="FFFFFF"/>
                </a:highlight>
              </a:rPr>
              <a:t>We can then use this likelihood or probability score to create personalized targeting campaigns to the users thus reducing our total cost (targeting only small set of users) and increasing our ROI.</a:t>
            </a:r>
            <a:endParaRPr sz="950">
              <a:solidFill>
                <a:srgbClr val="000000"/>
              </a:solidFill>
              <a:highlight>
                <a:srgbClr val="FFFFFF"/>
              </a:highlight>
            </a:endParaRPr>
          </a:p>
          <a:p>
            <a:pPr marL="0" lvl="0" indent="0" algn="l" rtl="0">
              <a:spcBef>
                <a:spcPts val="1200"/>
              </a:spcBef>
              <a:spcAft>
                <a:spcPts val="1200"/>
              </a:spcAft>
              <a:buNone/>
            </a:pPr>
            <a:endParaRPr sz="950">
              <a:solidFill>
                <a:srgbClr val="000000"/>
              </a:solidFill>
              <a:highlight>
                <a:srgbClr val="FFFFFF"/>
              </a:highlight>
            </a:endParaRPr>
          </a:p>
        </p:txBody>
      </p:sp>
      <p:pic>
        <p:nvPicPr>
          <p:cNvPr id="89" name="Google Shape;89;p17"/>
          <p:cNvPicPr preferRelativeResize="0"/>
          <p:nvPr/>
        </p:nvPicPr>
        <p:blipFill>
          <a:blip r:embed="rId3">
            <a:alphaModFix/>
          </a:blip>
          <a:stretch>
            <a:fillRect/>
          </a:stretch>
        </p:blipFill>
        <p:spPr>
          <a:xfrm>
            <a:off x="2065025" y="2787650"/>
            <a:ext cx="4023424" cy="2226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Propensity Modeling - Real world examples</a:t>
            </a:r>
            <a:endParaRPr sz="3000"/>
          </a:p>
        </p:txBody>
      </p:sp>
      <p:pic>
        <p:nvPicPr>
          <p:cNvPr id="95" name="Google Shape;95;p18"/>
          <p:cNvPicPr preferRelativeResize="0"/>
          <p:nvPr/>
        </p:nvPicPr>
        <p:blipFill>
          <a:blip r:embed="rId3">
            <a:alphaModFix/>
          </a:blip>
          <a:stretch>
            <a:fillRect/>
          </a:stretch>
        </p:blipFill>
        <p:spPr>
          <a:xfrm>
            <a:off x="476625" y="1499000"/>
            <a:ext cx="4617086" cy="996550"/>
          </a:xfrm>
          <a:prstGeom prst="rect">
            <a:avLst/>
          </a:prstGeom>
          <a:noFill/>
          <a:ln>
            <a:noFill/>
          </a:ln>
        </p:spPr>
      </p:pic>
      <p:pic>
        <p:nvPicPr>
          <p:cNvPr id="96" name="Google Shape;96;p18"/>
          <p:cNvPicPr preferRelativeResize="0"/>
          <p:nvPr/>
        </p:nvPicPr>
        <p:blipFill>
          <a:blip r:embed="rId4">
            <a:alphaModFix/>
          </a:blip>
          <a:stretch>
            <a:fillRect/>
          </a:stretch>
        </p:blipFill>
        <p:spPr>
          <a:xfrm>
            <a:off x="3807987" y="2418975"/>
            <a:ext cx="4943836" cy="996550"/>
          </a:xfrm>
          <a:prstGeom prst="rect">
            <a:avLst/>
          </a:prstGeom>
          <a:noFill/>
          <a:ln>
            <a:noFill/>
          </a:ln>
        </p:spPr>
      </p:pic>
      <p:pic>
        <p:nvPicPr>
          <p:cNvPr id="97" name="Google Shape;97;p18"/>
          <p:cNvPicPr preferRelativeResize="0"/>
          <p:nvPr/>
        </p:nvPicPr>
        <p:blipFill>
          <a:blip r:embed="rId5">
            <a:alphaModFix/>
          </a:blip>
          <a:stretch>
            <a:fillRect/>
          </a:stretch>
        </p:blipFill>
        <p:spPr>
          <a:xfrm>
            <a:off x="476625" y="3358825"/>
            <a:ext cx="4117698" cy="1652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11700" y="631800"/>
            <a:ext cx="8573400" cy="679200"/>
          </a:xfrm>
          <a:prstGeom prst="rect">
            <a:avLst/>
          </a:prstGeom>
          <a:ln w="9525" cap="flat" cmpd="sng">
            <a:solidFill>
              <a:srgbClr val="D9D9D9"/>
            </a:solidFill>
            <a:prstDash val="solid"/>
            <a:round/>
            <a:headEnd type="none" w="sm" len="sm"/>
            <a:tailEnd type="none" w="sm" len="sm"/>
          </a:ln>
        </p:spPr>
        <p:txBody>
          <a:bodyPr spcFirstLastPara="1" wrap="square" lIns="91425" tIns="91425" rIns="91425" bIns="91425" anchor="b" anchorCtr="0">
            <a:normAutofit/>
          </a:bodyPr>
          <a:lstStyle/>
          <a:p>
            <a:pPr marL="0" lvl="0" indent="0" algn="l" rtl="0">
              <a:spcBef>
                <a:spcPts val="0"/>
              </a:spcBef>
              <a:spcAft>
                <a:spcPts val="0"/>
              </a:spcAft>
              <a:buNone/>
            </a:pPr>
            <a:r>
              <a:rPr lang="en" sz="3000"/>
              <a:t>Propensity Modeling - Trigger based Model</a:t>
            </a:r>
            <a:endParaRPr sz="3000"/>
          </a:p>
        </p:txBody>
      </p:sp>
      <p:sp>
        <p:nvSpPr>
          <p:cNvPr id="103" name="Google Shape;103;p19"/>
          <p:cNvSpPr/>
          <p:nvPr/>
        </p:nvSpPr>
        <p:spPr>
          <a:xfrm>
            <a:off x="602050" y="1745250"/>
            <a:ext cx="1668900" cy="3055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4" name="Google Shape;104;p19"/>
          <p:cNvPicPr preferRelativeResize="0"/>
          <p:nvPr/>
        </p:nvPicPr>
        <p:blipFill>
          <a:blip r:embed="rId3">
            <a:alphaModFix/>
          </a:blip>
          <a:stretch>
            <a:fillRect/>
          </a:stretch>
        </p:blipFill>
        <p:spPr>
          <a:xfrm>
            <a:off x="734525" y="2077425"/>
            <a:ext cx="292950" cy="292950"/>
          </a:xfrm>
          <a:prstGeom prst="rect">
            <a:avLst/>
          </a:prstGeom>
          <a:noFill/>
          <a:ln>
            <a:noFill/>
          </a:ln>
        </p:spPr>
      </p:pic>
      <p:pic>
        <p:nvPicPr>
          <p:cNvPr id="105" name="Google Shape;105;p19"/>
          <p:cNvPicPr preferRelativeResize="0"/>
          <p:nvPr/>
        </p:nvPicPr>
        <p:blipFill>
          <a:blip r:embed="rId3">
            <a:alphaModFix/>
          </a:blip>
          <a:stretch>
            <a:fillRect/>
          </a:stretch>
        </p:blipFill>
        <p:spPr>
          <a:xfrm>
            <a:off x="1051275" y="2077425"/>
            <a:ext cx="292950" cy="292950"/>
          </a:xfrm>
          <a:prstGeom prst="rect">
            <a:avLst/>
          </a:prstGeom>
          <a:noFill/>
          <a:ln>
            <a:noFill/>
          </a:ln>
        </p:spPr>
      </p:pic>
      <p:pic>
        <p:nvPicPr>
          <p:cNvPr id="106" name="Google Shape;106;p19"/>
          <p:cNvPicPr preferRelativeResize="0"/>
          <p:nvPr/>
        </p:nvPicPr>
        <p:blipFill>
          <a:blip r:embed="rId3">
            <a:alphaModFix/>
          </a:blip>
          <a:stretch>
            <a:fillRect/>
          </a:stretch>
        </p:blipFill>
        <p:spPr>
          <a:xfrm>
            <a:off x="1401775" y="2077425"/>
            <a:ext cx="292950" cy="292950"/>
          </a:xfrm>
          <a:prstGeom prst="rect">
            <a:avLst/>
          </a:prstGeom>
          <a:noFill/>
          <a:ln>
            <a:noFill/>
          </a:ln>
        </p:spPr>
      </p:pic>
      <p:pic>
        <p:nvPicPr>
          <p:cNvPr id="107" name="Google Shape;107;p19"/>
          <p:cNvPicPr preferRelativeResize="0"/>
          <p:nvPr/>
        </p:nvPicPr>
        <p:blipFill>
          <a:blip r:embed="rId3">
            <a:alphaModFix/>
          </a:blip>
          <a:stretch>
            <a:fillRect/>
          </a:stretch>
        </p:blipFill>
        <p:spPr>
          <a:xfrm>
            <a:off x="1752275" y="2077425"/>
            <a:ext cx="292950" cy="292950"/>
          </a:xfrm>
          <a:prstGeom prst="rect">
            <a:avLst/>
          </a:prstGeom>
          <a:noFill/>
          <a:ln>
            <a:noFill/>
          </a:ln>
        </p:spPr>
      </p:pic>
      <p:pic>
        <p:nvPicPr>
          <p:cNvPr id="108" name="Google Shape;108;p19"/>
          <p:cNvPicPr preferRelativeResize="0"/>
          <p:nvPr/>
        </p:nvPicPr>
        <p:blipFill>
          <a:blip r:embed="rId3">
            <a:alphaModFix/>
          </a:blip>
          <a:stretch>
            <a:fillRect/>
          </a:stretch>
        </p:blipFill>
        <p:spPr>
          <a:xfrm>
            <a:off x="734525" y="2477450"/>
            <a:ext cx="292950" cy="292950"/>
          </a:xfrm>
          <a:prstGeom prst="rect">
            <a:avLst/>
          </a:prstGeom>
          <a:noFill/>
          <a:ln>
            <a:noFill/>
          </a:ln>
        </p:spPr>
      </p:pic>
      <p:pic>
        <p:nvPicPr>
          <p:cNvPr id="109" name="Google Shape;109;p19"/>
          <p:cNvPicPr preferRelativeResize="0"/>
          <p:nvPr/>
        </p:nvPicPr>
        <p:blipFill>
          <a:blip r:embed="rId3">
            <a:alphaModFix/>
          </a:blip>
          <a:stretch>
            <a:fillRect/>
          </a:stretch>
        </p:blipFill>
        <p:spPr>
          <a:xfrm>
            <a:off x="1051275" y="2477450"/>
            <a:ext cx="292950" cy="292950"/>
          </a:xfrm>
          <a:prstGeom prst="rect">
            <a:avLst/>
          </a:prstGeom>
          <a:noFill/>
          <a:ln>
            <a:noFill/>
          </a:ln>
        </p:spPr>
      </p:pic>
      <p:pic>
        <p:nvPicPr>
          <p:cNvPr id="110" name="Google Shape;110;p19"/>
          <p:cNvPicPr preferRelativeResize="0"/>
          <p:nvPr/>
        </p:nvPicPr>
        <p:blipFill>
          <a:blip r:embed="rId3">
            <a:alphaModFix/>
          </a:blip>
          <a:stretch>
            <a:fillRect/>
          </a:stretch>
        </p:blipFill>
        <p:spPr>
          <a:xfrm>
            <a:off x="1401775" y="2477450"/>
            <a:ext cx="292950" cy="292950"/>
          </a:xfrm>
          <a:prstGeom prst="rect">
            <a:avLst/>
          </a:prstGeom>
          <a:noFill/>
          <a:ln>
            <a:noFill/>
          </a:ln>
        </p:spPr>
      </p:pic>
      <p:pic>
        <p:nvPicPr>
          <p:cNvPr id="111" name="Google Shape;111;p19"/>
          <p:cNvPicPr preferRelativeResize="0"/>
          <p:nvPr/>
        </p:nvPicPr>
        <p:blipFill>
          <a:blip r:embed="rId3">
            <a:alphaModFix/>
          </a:blip>
          <a:stretch>
            <a:fillRect/>
          </a:stretch>
        </p:blipFill>
        <p:spPr>
          <a:xfrm>
            <a:off x="1752275" y="2477450"/>
            <a:ext cx="292950" cy="292950"/>
          </a:xfrm>
          <a:prstGeom prst="rect">
            <a:avLst/>
          </a:prstGeom>
          <a:noFill/>
          <a:ln>
            <a:noFill/>
          </a:ln>
        </p:spPr>
      </p:pic>
      <p:pic>
        <p:nvPicPr>
          <p:cNvPr id="112" name="Google Shape;112;p19"/>
          <p:cNvPicPr preferRelativeResize="0"/>
          <p:nvPr/>
        </p:nvPicPr>
        <p:blipFill>
          <a:blip r:embed="rId3">
            <a:alphaModFix/>
          </a:blip>
          <a:stretch>
            <a:fillRect/>
          </a:stretch>
        </p:blipFill>
        <p:spPr>
          <a:xfrm>
            <a:off x="734525" y="2858450"/>
            <a:ext cx="292950" cy="292950"/>
          </a:xfrm>
          <a:prstGeom prst="rect">
            <a:avLst/>
          </a:prstGeom>
          <a:noFill/>
          <a:ln>
            <a:noFill/>
          </a:ln>
        </p:spPr>
      </p:pic>
      <p:pic>
        <p:nvPicPr>
          <p:cNvPr id="113" name="Google Shape;113;p19"/>
          <p:cNvPicPr preferRelativeResize="0"/>
          <p:nvPr/>
        </p:nvPicPr>
        <p:blipFill>
          <a:blip r:embed="rId3">
            <a:alphaModFix/>
          </a:blip>
          <a:stretch>
            <a:fillRect/>
          </a:stretch>
        </p:blipFill>
        <p:spPr>
          <a:xfrm>
            <a:off x="1051275" y="2858450"/>
            <a:ext cx="292950" cy="292950"/>
          </a:xfrm>
          <a:prstGeom prst="rect">
            <a:avLst/>
          </a:prstGeom>
          <a:noFill/>
          <a:ln>
            <a:noFill/>
          </a:ln>
        </p:spPr>
      </p:pic>
      <p:pic>
        <p:nvPicPr>
          <p:cNvPr id="114" name="Google Shape;114;p19"/>
          <p:cNvPicPr preferRelativeResize="0"/>
          <p:nvPr/>
        </p:nvPicPr>
        <p:blipFill>
          <a:blip r:embed="rId3">
            <a:alphaModFix/>
          </a:blip>
          <a:stretch>
            <a:fillRect/>
          </a:stretch>
        </p:blipFill>
        <p:spPr>
          <a:xfrm>
            <a:off x="1401775" y="2858450"/>
            <a:ext cx="292950" cy="292950"/>
          </a:xfrm>
          <a:prstGeom prst="rect">
            <a:avLst/>
          </a:prstGeom>
          <a:noFill/>
          <a:ln>
            <a:noFill/>
          </a:ln>
        </p:spPr>
      </p:pic>
      <p:pic>
        <p:nvPicPr>
          <p:cNvPr id="115" name="Google Shape;115;p19"/>
          <p:cNvPicPr preferRelativeResize="0"/>
          <p:nvPr/>
        </p:nvPicPr>
        <p:blipFill>
          <a:blip r:embed="rId3">
            <a:alphaModFix/>
          </a:blip>
          <a:stretch>
            <a:fillRect/>
          </a:stretch>
        </p:blipFill>
        <p:spPr>
          <a:xfrm>
            <a:off x="1752275" y="2858450"/>
            <a:ext cx="292950" cy="292950"/>
          </a:xfrm>
          <a:prstGeom prst="rect">
            <a:avLst/>
          </a:prstGeom>
          <a:noFill/>
          <a:ln>
            <a:noFill/>
          </a:ln>
        </p:spPr>
      </p:pic>
      <p:pic>
        <p:nvPicPr>
          <p:cNvPr id="116" name="Google Shape;116;p19"/>
          <p:cNvPicPr preferRelativeResize="0"/>
          <p:nvPr/>
        </p:nvPicPr>
        <p:blipFill>
          <a:blip r:embed="rId3">
            <a:alphaModFix/>
          </a:blip>
          <a:stretch>
            <a:fillRect/>
          </a:stretch>
        </p:blipFill>
        <p:spPr>
          <a:xfrm>
            <a:off x="734525" y="3239450"/>
            <a:ext cx="292950" cy="292950"/>
          </a:xfrm>
          <a:prstGeom prst="rect">
            <a:avLst/>
          </a:prstGeom>
          <a:noFill/>
          <a:ln>
            <a:noFill/>
          </a:ln>
        </p:spPr>
      </p:pic>
      <p:pic>
        <p:nvPicPr>
          <p:cNvPr id="117" name="Google Shape;117;p19"/>
          <p:cNvPicPr preferRelativeResize="0"/>
          <p:nvPr/>
        </p:nvPicPr>
        <p:blipFill>
          <a:blip r:embed="rId3">
            <a:alphaModFix/>
          </a:blip>
          <a:stretch>
            <a:fillRect/>
          </a:stretch>
        </p:blipFill>
        <p:spPr>
          <a:xfrm>
            <a:off x="1051275" y="3239450"/>
            <a:ext cx="292950" cy="292950"/>
          </a:xfrm>
          <a:prstGeom prst="rect">
            <a:avLst/>
          </a:prstGeom>
          <a:noFill/>
          <a:ln>
            <a:noFill/>
          </a:ln>
        </p:spPr>
      </p:pic>
      <p:pic>
        <p:nvPicPr>
          <p:cNvPr id="118" name="Google Shape;118;p19"/>
          <p:cNvPicPr preferRelativeResize="0"/>
          <p:nvPr/>
        </p:nvPicPr>
        <p:blipFill>
          <a:blip r:embed="rId3">
            <a:alphaModFix/>
          </a:blip>
          <a:stretch>
            <a:fillRect/>
          </a:stretch>
        </p:blipFill>
        <p:spPr>
          <a:xfrm>
            <a:off x="1401775" y="3239450"/>
            <a:ext cx="292950" cy="292950"/>
          </a:xfrm>
          <a:prstGeom prst="rect">
            <a:avLst/>
          </a:prstGeom>
          <a:noFill/>
          <a:ln>
            <a:noFill/>
          </a:ln>
        </p:spPr>
      </p:pic>
      <p:pic>
        <p:nvPicPr>
          <p:cNvPr id="119" name="Google Shape;119;p19"/>
          <p:cNvPicPr preferRelativeResize="0"/>
          <p:nvPr/>
        </p:nvPicPr>
        <p:blipFill>
          <a:blip r:embed="rId3">
            <a:alphaModFix/>
          </a:blip>
          <a:stretch>
            <a:fillRect/>
          </a:stretch>
        </p:blipFill>
        <p:spPr>
          <a:xfrm>
            <a:off x="1752275" y="3239450"/>
            <a:ext cx="292950" cy="292950"/>
          </a:xfrm>
          <a:prstGeom prst="rect">
            <a:avLst/>
          </a:prstGeom>
          <a:noFill/>
          <a:ln>
            <a:noFill/>
          </a:ln>
        </p:spPr>
      </p:pic>
      <p:pic>
        <p:nvPicPr>
          <p:cNvPr id="120" name="Google Shape;120;p19"/>
          <p:cNvPicPr preferRelativeResize="0"/>
          <p:nvPr/>
        </p:nvPicPr>
        <p:blipFill>
          <a:blip r:embed="rId3">
            <a:alphaModFix/>
          </a:blip>
          <a:stretch>
            <a:fillRect/>
          </a:stretch>
        </p:blipFill>
        <p:spPr>
          <a:xfrm>
            <a:off x="734525" y="3544250"/>
            <a:ext cx="292950" cy="292950"/>
          </a:xfrm>
          <a:prstGeom prst="rect">
            <a:avLst/>
          </a:prstGeom>
          <a:noFill/>
          <a:ln>
            <a:noFill/>
          </a:ln>
        </p:spPr>
      </p:pic>
      <p:pic>
        <p:nvPicPr>
          <p:cNvPr id="121" name="Google Shape;121;p19"/>
          <p:cNvPicPr preferRelativeResize="0"/>
          <p:nvPr/>
        </p:nvPicPr>
        <p:blipFill>
          <a:blip r:embed="rId3">
            <a:alphaModFix/>
          </a:blip>
          <a:stretch>
            <a:fillRect/>
          </a:stretch>
        </p:blipFill>
        <p:spPr>
          <a:xfrm>
            <a:off x="1051275" y="3544250"/>
            <a:ext cx="292950" cy="292950"/>
          </a:xfrm>
          <a:prstGeom prst="rect">
            <a:avLst/>
          </a:prstGeom>
          <a:noFill/>
          <a:ln>
            <a:noFill/>
          </a:ln>
        </p:spPr>
      </p:pic>
      <p:pic>
        <p:nvPicPr>
          <p:cNvPr id="122" name="Google Shape;122;p19"/>
          <p:cNvPicPr preferRelativeResize="0"/>
          <p:nvPr/>
        </p:nvPicPr>
        <p:blipFill>
          <a:blip r:embed="rId3">
            <a:alphaModFix/>
          </a:blip>
          <a:stretch>
            <a:fillRect/>
          </a:stretch>
        </p:blipFill>
        <p:spPr>
          <a:xfrm>
            <a:off x="1401775" y="3544250"/>
            <a:ext cx="292950" cy="292950"/>
          </a:xfrm>
          <a:prstGeom prst="rect">
            <a:avLst/>
          </a:prstGeom>
          <a:noFill/>
          <a:ln>
            <a:noFill/>
          </a:ln>
        </p:spPr>
      </p:pic>
      <p:pic>
        <p:nvPicPr>
          <p:cNvPr id="123" name="Google Shape;123;p19"/>
          <p:cNvPicPr preferRelativeResize="0"/>
          <p:nvPr/>
        </p:nvPicPr>
        <p:blipFill>
          <a:blip r:embed="rId3">
            <a:alphaModFix/>
          </a:blip>
          <a:stretch>
            <a:fillRect/>
          </a:stretch>
        </p:blipFill>
        <p:spPr>
          <a:xfrm>
            <a:off x="1752275" y="3544250"/>
            <a:ext cx="292950" cy="292950"/>
          </a:xfrm>
          <a:prstGeom prst="rect">
            <a:avLst/>
          </a:prstGeom>
          <a:noFill/>
          <a:ln>
            <a:noFill/>
          </a:ln>
        </p:spPr>
      </p:pic>
      <p:pic>
        <p:nvPicPr>
          <p:cNvPr id="124" name="Google Shape;124;p19"/>
          <p:cNvPicPr preferRelativeResize="0"/>
          <p:nvPr/>
        </p:nvPicPr>
        <p:blipFill>
          <a:blip r:embed="rId3">
            <a:alphaModFix/>
          </a:blip>
          <a:stretch>
            <a:fillRect/>
          </a:stretch>
        </p:blipFill>
        <p:spPr>
          <a:xfrm>
            <a:off x="734525" y="3849050"/>
            <a:ext cx="292950" cy="292950"/>
          </a:xfrm>
          <a:prstGeom prst="rect">
            <a:avLst/>
          </a:prstGeom>
          <a:noFill/>
          <a:ln>
            <a:noFill/>
          </a:ln>
        </p:spPr>
      </p:pic>
      <p:pic>
        <p:nvPicPr>
          <p:cNvPr id="125" name="Google Shape;125;p19"/>
          <p:cNvPicPr preferRelativeResize="0"/>
          <p:nvPr/>
        </p:nvPicPr>
        <p:blipFill>
          <a:blip r:embed="rId3">
            <a:alphaModFix/>
          </a:blip>
          <a:stretch>
            <a:fillRect/>
          </a:stretch>
        </p:blipFill>
        <p:spPr>
          <a:xfrm>
            <a:off x="1051275" y="3849050"/>
            <a:ext cx="292950" cy="292950"/>
          </a:xfrm>
          <a:prstGeom prst="rect">
            <a:avLst/>
          </a:prstGeom>
          <a:noFill/>
          <a:ln>
            <a:noFill/>
          </a:ln>
        </p:spPr>
      </p:pic>
      <p:pic>
        <p:nvPicPr>
          <p:cNvPr id="126" name="Google Shape;126;p19"/>
          <p:cNvPicPr preferRelativeResize="0"/>
          <p:nvPr/>
        </p:nvPicPr>
        <p:blipFill>
          <a:blip r:embed="rId3">
            <a:alphaModFix/>
          </a:blip>
          <a:stretch>
            <a:fillRect/>
          </a:stretch>
        </p:blipFill>
        <p:spPr>
          <a:xfrm>
            <a:off x="1401775" y="3849050"/>
            <a:ext cx="292950" cy="292950"/>
          </a:xfrm>
          <a:prstGeom prst="rect">
            <a:avLst/>
          </a:prstGeom>
          <a:noFill/>
          <a:ln>
            <a:noFill/>
          </a:ln>
        </p:spPr>
      </p:pic>
      <p:pic>
        <p:nvPicPr>
          <p:cNvPr id="127" name="Google Shape;127;p19"/>
          <p:cNvPicPr preferRelativeResize="0"/>
          <p:nvPr/>
        </p:nvPicPr>
        <p:blipFill>
          <a:blip r:embed="rId3">
            <a:alphaModFix/>
          </a:blip>
          <a:stretch>
            <a:fillRect/>
          </a:stretch>
        </p:blipFill>
        <p:spPr>
          <a:xfrm>
            <a:off x="1752275" y="3849050"/>
            <a:ext cx="292950" cy="292950"/>
          </a:xfrm>
          <a:prstGeom prst="rect">
            <a:avLst/>
          </a:prstGeom>
          <a:noFill/>
          <a:ln>
            <a:noFill/>
          </a:ln>
        </p:spPr>
      </p:pic>
      <p:pic>
        <p:nvPicPr>
          <p:cNvPr id="128" name="Google Shape;128;p19"/>
          <p:cNvPicPr preferRelativeResize="0"/>
          <p:nvPr/>
        </p:nvPicPr>
        <p:blipFill>
          <a:blip r:embed="rId3">
            <a:alphaModFix/>
          </a:blip>
          <a:stretch>
            <a:fillRect/>
          </a:stretch>
        </p:blipFill>
        <p:spPr>
          <a:xfrm>
            <a:off x="734525" y="4153850"/>
            <a:ext cx="292950" cy="292950"/>
          </a:xfrm>
          <a:prstGeom prst="rect">
            <a:avLst/>
          </a:prstGeom>
          <a:noFill/>
          <a:ln>
            <a:noFill/>
          </a:ln>
        </p:spPr>
      </p:pic>
      <p:pic>
        <p:nvPicPr>
          <p:cNvPr id="129" name="Google Shape;129;p19"/>
          <p:cNvPicPr preferRelativeResize="0"/>
          <p:nvPr/>
        </p:nvPicPr>
        <p:blipFill>
          <a:blip r:embed="rId3">
            <a:alphaModFix/>
          </a:blip>
          <a:stretch>
            <a:fillRect/>
          </a:stretch>
        </p:blipFill>
        <p:spPr>
          <a:xfrm>
            <a:off x="1051275" y="4153850"/>
            <a:ext cx="292950" cy="292950"/>
          </a:xfrm>
          <a:prstGeom prst="rect">
            <a:avLst/>
          </a:prstGeom>
          <a:noFill/>
          <a:ln>
            <a:noFill/>
          </a:ln>
        </p:spPr>
      </p:pic>
      <p:pic>
        <p:nvPicPr>
          <p:cNvPr id="130" name="Google Shape;130;p19"/>
          <p:cNvPicPr preferRelativeResize="0"/>
          <p:nvPr/>
        </p:nvPicPr>
        <p:blipFill>
          <a:blip r:embed="rId3">
            <a:alphaModFix/>
          </a:blip>
          <a:stretch>
            <a:fillRect/>
          </a:stretch>
        </p:blipFill>
        <p:spPr>
          <a:xfrm>
            <a:off x="1401775" y="4153850"/>
            <a:ext cx="292950" cy="292950"/>
          </a:xfrm>
          <a:prstGeom prst="rect">
            <a:avLst/>
          </a:prstGeom>
          <a:noFill/>
          <a:ln>
            <a:noFill/>
          </a:ln>
        </p:spPr>
      </p:pic>
      <p:pic>
        <p:nvPicPr>
          <p:cNvPr id="131" name="Google Shape;131;p19"/>
          <p:cNvPicPr preferRelativeResize="0"/>
          <p:nvPr/>
        </p:nvPicPr>
        <p:blipFill>
          <a:blip r:embed="rId3">
            <a:alphaModFix/>
          </a:blip>
          <a:stretch>
            <a:fillRect/>
          </a:stretch>
        </p:blipFill>
        <p:spPr>
          <a:xfrm>
            <a:off x="1752275" y="4153850"/>
            <a:ext cx="292950" cy="292950"/>
          </a:xfrm>
          <a:prstGeom prst="rect">
            <a:avLst/>
          </a:prstGeom>
          <a:noFill/>
          <a:ln>
            <a:noFill/>
          </a:ln>
        </p:spPr>
      </p:pic>
      <p:pic>
        <p:nvPicPr>
          <p:cNvPr id="132" name="Google Shape;132;p19"/>
          <p:cNvPicPr preferRelativeResize="0"/>
          <p:nvPr/>
        </p:nvPicPr>
        <p:blipFill>
          <a:blip r:embed="rId3">
            <a:alphaModFix/>
          </a:blip>
          <a:stretch>
            <a:fillRect/>
          </a:stretch>
        </p:blipFill>
        <p:spPr>
          <a:xfrm>
            <a:off x="734525" y="4458650"/>
            <a:ext cx="292950" cy="292950"/>
          </a:xfrm>
          <a:prstGeom prst="rect">
            <a:avLst/>
          </a:prstGeom>
          <a:noFill/>
          <a:ln>
            <a:noFill/>
          </a:ln>
        </p:spPr>
      </p:pic>
      <p:pic>
        <p:nvPicPr>
          <p:cNvPr id="133" name="Google Shape;133;p19"/>
          <p:cNvPicPr preferRelativeResize="0"/>
          <p:nvPr/>
        </p:nvPicPr>
        <p:blipFill>
          <a:blip r:embed="rId3">
            <a:alphaModFix/>
          </a:blip>
          <a:stretch>
            <a:fillRect/>
          </a:stretch>
        </p:blipFill>
        <p:spPr>
          <a:xfrm>
            <a:off x="1051275" y="4458650"/>
            <a:ext cx="292950" cy="292950"/>
          </a:xfrm>
          <a:prstGeom prst="rect">
            <a:avLst/>
          </a:prstGeom>
          <a:noFill/>
          <a:ln>
            <a:noFill/>
          </a:ln>
        </p:spPr>
      </p:pic>
      <p:pic>
        <p:nvPicPr>
          <p:cNvPr id="134" name="Google Shape;134;p19"/>
          <p:cNvPicPr preferRelativeResize="0"/>
          <p:nvPr/>
        </p:nvPicPr>
        <p:blipFill>
          <a:blip r:embed="rId3">
            <a:alphaModFix/>
          </a:blip>
          <a:stretch>
            <a:fillRect/>
          </a:stretch>
        </p:blipFill>
        <p:spPr>
          <a:xfrm>
            <a:off x="1401775" y="4458650"/>
            <a:ext cx="292950" cy="292950"/>
          </a:xfrm>
          <a:prstGeom prst="rect">
            <a:avLst/>
          </a:prstGeom>
          <a:noFill/>
          <a:ln>
            <a:noFill/>
          </a:ln>
        </p:spPr>
      </p:pic>
      <p:pic>
        <p:nvPicPr>
          <p:cNvPr id="135" name="Google Shape;135;p19"/>
          <p:cNvPicPr preferRelativeResize="0"/>
          <p:nvPr/>
        </p:nvPicPr>
        <p:blipFill>
          <a:blip r:embed="rId3">
            <a:alphaModFix/>
          </a:blip>
          <a:stretch>
            <a:fillRect/>
          </a:stretch>
        </p:blipFill>
        <p:spPr>
          <a:xfrm>
            <a:off x="1752275" y="4458650"/>
            <a:ext cx="292950" cy="292950"/>
          </a:xfrm>
          <a:prstGeom prst="rect">
            <a:avLst/>
          </a:prstGeom>
          <a:noFill/>
          <a:ln>
            <a:noFill/>
          </a:ln>
        </p:spPr>
      </p:pic>
      <p:sp>
        <p:nvSpPr>
          <p:cNvPr id="136" name="Google Shape;136;p19"/>
          <p:cNvSpPr/>
          <p:nvPr/>
        </p:nvSpPr>
        <p:spPr>
          <a:xfrm>
            <a:off x="2565625" y="1745250"/>
            <a:ext cx="1668900" cy="3055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 name="Google Shape;137;p19"/>
          <p:cNvPicPr preferRelativeResize="0"/>
          <p:nvPr/>
        </p:nvPicPr>
        <p:blipFill>
          <a:blip r:embed="rId3">
            <a:alphaModFix/>
          </a:blip>
          <a:stretch>
            <a:fillRect/>
          </a:stretch>
        </p:blipFill>
        <p:spPr>
          <a:xfrm>
            <a:off x="5918175" y="3468363"/>
            <a:ext cx="292950" cy="292950"/>
          </a:xfrm>
          <a:prstGeom prst="rect">
            <a:avLst/>
          </a:prstGeom>
          <a:noFill/>
          <a:ln>
            <a:noFill/>
          </a:ln>
        </p:spPr>
      </p:pic>
      <p:pic>
        <p:nvPicPr>
          <p:cNvPr id="138" name="Google Shape;138;p19"/>
          <p:cNvPicPr preferRelativeResize="0"/>
          <p:nvPr/>
        </p:nvPicPr>
        <p:blipFill>
          <a:blip r:embed="rId3">
            <a:alphaModFix/>
          </a:blip>
          <a:stretch>
            <a:fillRect/>
          </a:stretch>
        </p:blipFill>
        <p:spPr>
          <a:xfrm>
            <a:off x="6268675" y="3468363"/>
            <a:ext cx="292950" cy="292950"/>
          </a:xfrm>
          <a:prstGeom prst="rect">
            <a:avLst/>
          </a:prstGeom>
          <a:noFill/>
          <a:ln>
            <a:noFill/>
          </a:ln>
        </p:spPr>
      </p:pic>
      <p:pic>
        <p:nvPicPr>
          <p:cNvPr id="139" name="Google Shape;139;p19"/>
          <p:cNvPicPr preferRelativeResize="0"/>
          <p:nvPr/>
        </p:nvPicPr>
        <p:blipFill>
          <a:blip r:embed="rId3">
            <a:alphaModFix/>
          </a:blip>
          <a:stretch>
            <a:fillRect/>
          </a:stretch>
        </p:blipFill>
        <p:spPr>
          <a:xfrm>
            <a:off x="5250925" y="3849363"/>
            <a:ext cx="292950" cy="292950"/>
          </a:xfrm>
          <a:prstGeom prst="rect">
            <a:avLst/>
          </a:prstGeom>
          <a:noFill/>
          <a:ln>
            <a:noFill/>
          </a:ln>
        </p:spPr>
      </p:pic>
      <p:pic>
        <p:nvPicPr>
          <p:cNvPr id="140" name="Google Shape;140;p19"/>
          <p:cNvPicPr preferRelativeResize="0"/>
          <p:nvPr/>
        </p:nvPicPr>
        <p:blipFill>
          <a:blip r:embed="rId3">
            <a:alphaModFix/>
          </a:blip>
          <a:stretch>
            <a:fillRect/>
          </a:stretch>
        </p:blipFill>
        <p:spPr>
          <a:xfrm>
            <a:off x="5567675" y="3849363"/>
            <a:ext cx="292950" cy="292950"/>
          </a:xfrm>
          <a:prstGeom prst="rect">
            <a:avLst/>
          </a:prstGeom>
          <a:noFill/>
          <a:ln>
            <a:noFill/>
          </a:ln>
        </p:spPr>
      </p:pic>
      <p:pic>
        <p:nvPicPr>
          <p:cNvPr id="141" name="Google Shape;141;p19"/>
          <p:cNvPicPr preferRelativeResize="0"/>
          <p:nvPr/>
        </p:nvPicPr>
        <p:blipFill>
          <a:blip r:embed="rId3">
            <a:alphaModFix/>
          </a:blip>
          <a:stretch>
            <a:fillRect/>
          </a:stretch>
        </p:blipFill>
        <p:spPr>
          <a:xfrm>
            <a:off x="5918175" y="3849363"/>
            <a:ext cx="292950" cy="292950"/>
          </a:xfrm>
          <a:prstGeom prst="rect">
            <a:avLst/>
          </a:prstGeom>
          <a:noFill/>
          <a:ln>
            <a:noFill/>
          </a:ln>
        </p:spPr>
      </p:pic>
      <p:pic>
        <p:nvPicPr>
          <p:cNvPr id="142" name="Google Shape;142;p19"/>
          <p:cNvPicPr preferRelativeResize="0"/>
          <p:nvPr/>
        </p:nvPicPr>
        <p:blipFill>
          <a:blip r:embed="rId3">
            <a:alphaModFix/>
          </a:blip>
          <a:stretch>
            <a:fillRect/>
          </a:stretch>
        </p:blipFill>
        <p:spPr>
          <a:xfrm>
            <a:off x="6268675" y="3849363"/>
            <a:ext cx="292950" cy="292950"/>
          </a:xfrm>
          <a:prstGeom prst="rect">
            <a:avLst/>
          </a:prstGeom>
          <a:noFill/>
          <a:ln>
            <a:noFill/>
          </a:ln>
        </p:spPr>
      </p:pic>
      <p:pic>
        <p:nvPicPr>
          <p:cNvPr id="143" name="Google Shape;143;p19"/>
          <p:cNvPicPr preferRelativeResize="0"/>
          <p:nvPr/>
        </p:nvPicPr>
        <p:blipFill>
          <a:blip r:embed="rId3">
            <a:alphaModFix/>
          </a:blip>
          <a:stretch>
            <a:fillRect/>
          </a:stretch>
        </p:blipFill>
        <p:spPr>
          <a:xfrm>
            <a:off x="5250925" y="4230363"/>
            <a:ext cx="292950" cy="292950"/>
          </a:xfrm>
          <a:prstGeom prst="rect">
            <a:avLst/>
          </a:prstGeom>
          <a:noFill/>
          <a:ln>
            <a:noFill/>
          </a:ln>
        </p:spPr>
      </p:pic>
      <p:pic>
        <p:nvPicPr>
          <p:cNvPr id="144" name="Google Shape;144;p19"/>
          <p:cNvPicPr preferRelativeResize="0"/>
          <p:nvPr/>
        </p:nvPicPr>
        <p:blipFill>
          <a:blip r:embed="rId3">
            <a:alphaModFix/>
          </a:blip>
          <a:stretch>
            <a:fillRect/>
          </a:stretch>
        </p:blipFill>
        <p:spPr>
          <a:xfrm>
            <a:off x="5567675" y="4230363"/>
            <a:ext cx="292950" cy="292950"/>
          </a:xfrm>
          <a:prstGeom prst="rect">
            <a:avLst/>
          </a:prstGeom>
          <a:noFill/>
          <a:ln>
            <a:noFill/>
          </a:ln>
        </p:spPr>
      </p:pic>
      <p:pic>
        <p:nvPicPr>
          <p:cNvPr id="145" name="Google Shape;145;p19"/>
          <p:cNvPicPr preferRelativeResize="0"/>
          <p:nvPr/>
        </p:nvPicPr>
        <p:blipFill>
          <a:blip r:embed="rId3">
            <a:alphaModFix/>
          </a:blip>
          <a:stretch>
            <a:fillRect/>
          </a:stretch>
        </p:blipFill>
        <p:spPr>
          <a:xfrm>
            <a:off x="5918175" y="4230363"/>
            <a:ext cx="292950" cy="292950"/>
          </a:xfrm>
          <a:prstGeom prst="rect">
            <a:avLst/>
          </a:prstGeom>
          <a:noFill/>
          <a:ln>
            <a:noFill/>
          </a:ln>
        </p:spPr>
      </p:pic>
      <p:pic>
        <p:nvPicPr>
          <p:cNvPr id="146" name="Google Shape;146;p19"/>
          <p:cNvPicPr preferRelativeResize="0"/>
          <p:nvPr/>
        </p:nvPicPr>
        <p:blipFill>
          <a:blip r:embed="rId3">
            <a:alphaModFix/>
          </a:blip>
          <a:stretch>
            <a:fillRect/>
          </a:stretch>
        </p:blipFill>
        <p:spPr>
          <a:xfrm>
            <a:off x="6268675" y="4230363"/>
            <a:ext cx="292950" cy="292950"/>
          </a:xfrm>
          <a:prstGeom prst="rect">
            <a:avLst/>
          </a:prstGeom>
          <a:noFill/>
          <a:ln>
            <a:noFill/>
          </a:ln>
        </p:spPr>
      </p:pic>
      <p:sp>
        <p:nvSpPr>
          <p:cNvPr id="147" name="Google Shape;147;p19"/>
          <p:cNvSpPr txBox="1"/>
          <p:nvPr/>
        </p:nvSpPr>
        <p:spPr>
          <a:xfrm>
            <a:off x="734525" y="1776075"/>
            <a:ext cx="1409400" cy="2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 b="1">
                <a:latin typeface="Source Code Pro"/>
                <a:ea typeface="Source Code Pro"/>
                <a:cs typeface="Source Code Pro"/>
                <a:sym typeface="Source Code Pro"/>
              </a:rPr>
              <a:t>All users who are using the platform</a:t>
            </a:r>
            <a:endParaRPr sz="400" b="1">
              <a:latin typeface="Source Code Pro"/>
              <a:ea typeface="Source Code Pro"/>
              <a:cs typeface="Source Code Pro"/>
              <a:sym typeface="Source Code Pro"/>
            </a:endParaRPr>
          </a:p>
        </p:txBody>
      </p:sp>
      <p:sp>
        <p:nvSpPr>
          <p:cNvPr id="148" name="Google Shape;148;p19"/>
          <p:cNvSpPr txBox="1"/>
          <p:nvPr/>
        </p:nvSpPr>
        <p:spPr>
          <a:xfrm>
            <a:off x="2722225" y="1754925"/>
            <a:ext cx="14094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 b="1">
                <a:latin typeface="Source Code Pro"/>
                <a:ea typeface="Source Code Pro"/>
                <a:cs typeface="Source Code Pro"/>
                <a:sym typeface="Source Code Pro"/>
              </a:rPr>
              <a:t>Users who does the intended action</a:t>
            </a:r>
            <a:endParaRPr sz="400" b="1">
              <a:latin typeface="Source Code Pro"/>
              <a:ea typeface="Source Code Pro"/>
              <a:cs typeface="Source Code Pro"/>
              <a:sym typeface="Source Code Pro"/>
            </a:endParaRPr>
          </a:p>
          <a:p>
            <a:pPr marL="0" lvl="0" indent="0" algn="l" rtl="0">
              <a:spcBef>
                <a:spcPts val="0"/>
              </a:spcBef>
              <a:spcAft>
                <a:spcPts val="0"/>
              </a:spcAft>
              <a:buNone/>
            </a:pPr>
            <a:r>
              <a:rPr lang="en" sz="400" b="1">
                <a:latin typeface="Source Code Pro"/>
                <a:ea typeface="Source Code Pro"/>
                <a:cs typeface="Source Code Pro"/>
                <a:sym typeface="Source Code Pro"/>
              </a:rPr>
              <a:t>(add_to_cart, add_to_wishlist, etc.)</a:t>
            </a:r>
            <a:endParaRPr sz="400" b="1">
              <a:latin typeface="Source Code Pro"/>
              <a:ea typeface="Source Code Pro"/>
              <a:cs typeface="Source Code Pro"/>
              <a:sym typeface="Source Code Pro"/>
            </a:endParaRPr>
          </a:p>
        </p:txBody>
      </p:sp>
      <p:sp>
        <p:nvSpPr>
          <p:cNvPr id="149" name="Google Shape;149;p19"/>
          <p:cNvSpPr/>
          <p:nvPr/>
        </p:nvSpPr>
        <p:spPr>
          <a:xfrm>
            <a:off x="5071675" y="2126013"/>
            <a:ext cx="1774800" cy="894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9"/>
          <p:cNvSpPr/>
          <p:nvPr/>
        </p:nvSpPr>
        <p:spPr>
          <a:xfrm>
            <a:off x="5049325" y="3385800"/>
            <a:ext cx="1834800" cy="1220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 name="Google Shape;151;p19"/>
          <p:cNvCxnSpPr>
            <a:stCxn id="136" idx="3"/>
            <a:endCxn id="149" idx="1"/>
          </p:cNvCxnSpPr>
          <p:nvPr/>
        </p:nvCxnSpPr>
        <p:spPr>
          <a:xfrm rot="10800000" flipH="1">
            <a:off x="4234525" y="2573100"/>
            <a:ext cx="837300" cy="699900"/>
          </a:xfrm>
          <a:prstGeom prst="straightConnector1">
            <a:avLst/>
          </a:prstGeom>
          <a:noFill/>
          <a:ln w="9525" cap="flat" cmpd="sng">
            <a:solidFill>
              <a:schemeClr val="dk2"/>
            </a:solidFill>
            <a:prstDash val="solid"/>
            <a:round/>
            <a:headEnd type="none" w="med" len="med"/>
            <a:tailEnd type="triangle" w="med" len="med"/>
          </a:ln>
        </p:spPr>
      </p:cxnSp>
      <p:cxnSp>
        <p:nvCxnSpPr>
          <p:cNvPr id="152" name="Google Shape;152;p19"/>
          <p:cNvCxnSpPr>
            <a:stCxn id="136" idx="3"/>
            <a:endCxn id="150" idx="1"/>
          </p:cNvCxnSpPr>
          <p:nvPr/>
        </p:nvCxnSpPr>
        <p:spPr>
          <a:xfrm>
            <a:off x="4234525" y="3273000"/>
            <a:ext cx="814800" cy="723000"/>
          </a:xfrm>
          <a:prstGeom prst="straightConnector1">
            <a:avLst/>
          </a:prstGeom>
          <a:noFill/>
          <a:ln w="9525" cap="flat" cmpd="sng">
            <a:solidFill>
              <a:schemeClr val="dk2"/>
            </a:solidFill>
            <a:prstDash val="solid"/>
            <a:round/>
            <a:headEnd type="none" w="med" len="med"/>
            <a:tailEnd type="triangle" w="med" len="med"/>
          </a:ln>
        </p:spPr>
      </p:cxnSp>
      <p:cxnSp>
        <p:nvCxnSpPr>
          <p:cNvPr id="153" name="Google Shape;153;p19"/>
          <p:cNvCxnSpPr>
            <a:stCxn id="103" idx="3"/>
            <a:endCxn id="136" idx="1"/>
          </p:cNvCxnSpPr>
          <p:nvPr/>
        </p:nvCxnSpPr>
        <p:spPr>
          <a:xfrm>
            <a:off x="2270950" y="3273000"/>
            <a:ext cx="294600" cy="0"/>
          </a:xfrm>
          <a:prstGeom prst="straightConnector1">
            <a:avLst/>
          </a:prstGeom>
          <a:noFill/>
          <a:ln w="9525" cap="flat" cmpd="sng">
            <a:solidFill>
              <a:schemeClr val="dk2"/>
            </a:solidFill>
            <a:prstDash val="solid"/>
            <a:round/>
            <a:headEnd type="none" w="med" len="med"/>
            <a:tailEnd type="triangle" w="med" len="med"/>
          </a:ln>
        </p:spPr>
      </p:cxnSp>
      <p:pic>
        <p:nvPicPr>
          <p:cNvPr id="154" name="Google Shape;154;p19"/>
          <p:cNvPicPr preferRelativeResize="0"/>
          <p:nvPr/>
        </p:nvPicPr>
        <p:blipFill>
          <a:blip r:embed="rId3">
            <a:alphaModFix/>
          </a:blip>
          <a:stretch>
            <a:fillRect/>
          </a:stretch>
        </p:blipFill>
        <p:spPr>
          <a:xfrm>
            <a:off x="5250925" y="2225250"/>
            <a:ext cx="292950" cy="292950"/>
          </a:xfrm>
          <a:prstGeom prst="rect">
            <a:avLst/>
          </a:prstGeom>
          <a:noFill/>
          <a:ln>
            <a:noFill/>
          </a:ln>
        </p:spPr>
      </p:pic>
      <p:pic>
        <p:nvPicPr>
          <p:cNvPr id="155" name="Google Shape;155;p19"/>
          <p:cNvPicPr preferRelativeResize="0"/>
          <p:nvPr/>
        </p:nvPicPr>
        <p:blipFill>
          <a:blip r:embed="rId3">
            <a:alphaModFix/>
          </a:blip>
          <a:stretch>
            <a:fillRect/>
          </a:stretch>
        </p:blipFill>
        <p:spPr>
          <a:xfrm>
            <a:off x="5567675" y="2225250"/>
            <a:ext cx="292950" cy="292950"/>
          </a:xfrm>
          <a:prstGeom prst="rect">
            <a:avLst/>
          </a:prstGeom>
          <a:noFill/>
          <a:ln>
            <a:noFill/>
          </a:ln>
        </p:spPr>
      </p:pic>
      <p:pic>
        <p:nvPicPr>
          <p:cNvPr id="156" name="Google Shape;156;p19"/>
          <p:cNvPicPr preferRelativeResize="0"/>
          <p:nvPr/>
        </p:nvPicPr>
        <p:blipFill>
          <a:blip r:embed="rId3">
            <a:alphaModFix/>
          </a:blip>
          <a:stretch>
            <a:fillRect/>
          </a:stretch>
        </p:blipFill>
        <p:spPr>
          <a:xfrm>
            <a:off x="5918175" y="2225250"/>
            <a:ext cx="292950" cy="292950"/>
          </a:xfrm>
          <a:prstGeom prst="rect">
            <a:avLst/>
          </a:prstGeom>
          <a:noFill/>
          <a:ln>
            <a:noFill/>
          </a:ln>
        </p:spPr>
      </p:pic>
      <p:pic>
        <p:nvPicPr>
          <p:cNvPr id="157" name="Google Shape;157;p19"/>
          <p:cNvPicPr preferRelativeResize="0"/>
          <p:nvPr/>
        </p:nvPicPr>
        <p:blipFill>
          <a:blip r:embed="rId3">
            <a:alphaModFix/>
          </a:blip>
          <a:stretch>
            <a:fillRect/>
          </a:stretch>
        </p:blipFill>
        <p:spPr>
          <a:xfrm>
            <a:off x="6268675" y="2225250"/>
            <a:ext cx="292950" cy="292950"/>
          </a:xfrm>
          <a:prstGeom prst="rect">
            <a:avLst/>
          </a:prstGeom>
          <a:noFill/>
          <a:ln>
            <a:noFill/>
          </a:ln>
        </p:spPr>
      </p:pic>
      <p:pic>
        <p:nvPicPr>
          <p:cNvPr id="158" name="Google Shape;158;p19"/>
          <p:cNvPicPr preferRelativeResize="0"/>
          <p:nvPr/>
        </p:nvPicPr>
        <p:blipFill>
          <a:blip r:embed="rId3">
            <a:alphaModFix/>
          </a:blip>
          <a:stretch>
            <a:fillRect/>
          </a:stretch>
        </p:blipFill>
        <p:spPr>
          <a:xfrm>
            <a:off x="5250925" y="2625275"/>
            <a:ext cx="292950" cy="292950"/>
          </a:xfrm>
          <a:prstGeom prst="rect">
            <a:avLst/>
          </a:prstGeom>
          <a:noFill/>
          <a:ln>
            <a:noFill/>
          </a:ln>
        </p:spPr>
      </p:pic>
      <p:pic>
        <p:nvPicPr>
          <p:cNvPr id="159" name="Google Shape;159;p19"/>
          <p:cNvPicPr preferRelativeResize="0"/>
          <p:nvPr/>
        </p:nvPicPr>
        <p:blipFill>
          <a:blip r:embed="rId3">
            <a:alphaModFix/>
          </a:blip>
          <a:stretch>
            <a:fillRect/>
          </a:stretch>
        </p:blipFill>
        <p:spPr>
          <a:xfrm>
            <a:off x="5567675" y="2625275"/>
            <a:ext cx="292950" cy="292950"/>
          </a:xfrm>
          <a:prstGeom prst="rect">
            <a:avLst/>
          </a:prstGeom>
          <a:noFill/>
          <a:ln>
            <a:noFill/>
          </a:ln>
        </p:spPr>
      </p:pic>
      <p:sp>
        <p:nvSpPr>
          <p:cNvPr id="160" name="Google Shape;160;p19"/>
          <p:cNvSpPr txBox="1"/>
          <p:nvPr/>
        </p:nvSpPr>
        <p:spPr>
          <a:xfrm>
            <a:off x="5218625" y="1844975"/>
            <a:ext cx="1409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b="1">
                <a:latin typeface="Source Code Pro"/>
                <a:ea typeface="Source Code Pro"/>
                <a:cs typeface="Source Code Pro"/>
                <a:sym typeface="Source Code Pro"/>
              </a:rPr>
              <a:t>Users who made a purchase (Target - 1)</a:t>
            </a:r>
            <a:endParaRPr sz="500" b="1">
              <a:latin typeface="Source Code Pro"/>
              <a:ea typeface="Source Code Pro"/>
              <a:cs typeface="Source Code Pro"/>
              <a:sym typeface="Source Code Pro"/>
            </a:endParaRPr>
          </a:p>
        </p:txBody>
      </p:sp>
      <p:sp>
        <p:nvSpPr>
          <p:cNvPr id="161" name="Google Shape;161;p19"/>
          <p:cNvSpPr txBox="1"/>
          <p:nvPr/>
        </p:nvSpPr>
        <p:spPr>
          <a:xfrm>
            <a:off x="5218625" y="3113400"/>
            <a:ext cx="1538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b="1">
                <a:latin typeface="Source Code Pro"/>
                <a:ea typeface="Source Code Pro"/>
                <a:cs typeface="Source Code Pro"/>
                <a:sym typeface="Source Code Pro"/>
              </a:rPr>
              <a:t>Users who did not made a purchase (Target - 0)</a:t>
            </a:r>
            <a:endParaRPr sz="500" b="1">
              <a:latin typeface="Source Code Pro"/>
              <a:ea typeface="Source Code Pro"/>
              <a:cs typeface="Source Code Pro"/>
              <a:sym typeface="Source Code Pro"/>
            </a:endParaRPr>
          </a:p>
        </p:txBody>
      </p:sp>
      <p:pic>
        <p:nvPicPr>
          <p:cNvPr id="162" name="Google Shape;162;p19"/>
          <p:cNvPicPr preferRelativeResize="0"/>
          <p:nvPr/>
        </p:nvPicPr>
        <p:blipFill>
          <a:blip r:embed="rId3">
            <a:alphaModFix/>
          </a:blip>
          <a:stretch>
            <a:fillRect/>
          </a:stretch>
        </p:blipFill>
        <p:spPr>
          <a:xfrm>
            <a:off x="2744688" y="2699100"/>
            <a:ext cx="292950" cy="292950"/>
          </a:xfrm>
          <a:prstGeom prst="rect">
            <a:avLst/>
          </a:prstGeom>
          <a:noFill/>
          <a:ln>
            <a:noFill/>
          </a:ln>
        </p:spPr>
      </p:pic>
      <p:pic>
        <p:nvPicPr>
          <p:cNvPr id="163" name="Google Shape;163;p19"/>
          <p:cNvPicPr preferRelativeResize="0"/>
          <p:nvPr/>
        </p:nvPicPr>
        <p:blipFill>
          <a:blip r:embed="rId3">
            <a:alphaModFix/>
          </a:blip>
          <a:stretch>
            <a:fillRect/>
          </a:stretch>
        </p:blipFill>
        <p:spPr>
          <a:xfrm>
            <a:off x="3061438" y="2699100"/>
            <a:ext cx="292950" cy="292950"/>
          </a:xfrm>
          <a:prstGeom prst="rect">
            <a:avLst/>
          </a:prstGeom>
          <a:noFill/>
          <a:ln>
            <a:noFill/>
          </a:ln>
        </p:spPr>
      </p:pic>
      <p:pic>
        <p:nvPicPr>
          <p:cNvPr id="164" name="Google Shape;164;p19"/>
          <p:cNvPicPr preferRelativeResize="0"/>
          <p:nvPr/>
        </p:nvPicPr>
        <p:blipFill>
          <a:blip r:embed="rId3">
            <a:alphaModFix/>
          </a:blip>
          <a:stretch>
            <a:fillRect/>
          </a:stretch>
        </p:blipFill>
        <p:spPr>
          <a:xfrm>
            <a:off x="3411938" y="2699100"/>
            <a:ext cx="292950" cy="292950"/>
          </a:xfrm>
          <a:prstGeom prst="rect">
            <a:avLst/>
          </a:prstGeom>
          <a:noFill/>
          <a:ln>
            <a:noFill/>
          </a:ln>
        </p:spPr>
      </p:pic>
      <p:pic>
        <p:nvPicPr>
          <p:cNvPr id="165" name="Google Shape;165;p19"/>
          <p:cNvPicPr preferRelativeResize="0"/>
          <p:nvPr/>
        </p:nvPicPr>
        <p:blipFill>
          <a:blip r:embed="rId3">
            <a:alphaModFix/>
          </a:blip>
          <a:stretch>
            <a:fillRect/>
          </a:stretch>
        </p:blipFill>
        <p:spPr>
          <a:xfrm>
            <a:off x="3762438" y="2699100"/>
            <a:ext cx="292950" cy="292950"/>
          </a:xfrm>
          <a:prstGeom prst="rect">
            <a:avLst/>
          </a:prstGeom>
          <a:noFill/>
          <a:ln>
            <a:noFill/>
          </a:ln>
        </p:spPr>
      </p:pic>
      <p:pic>
        <p:nvPicPr>
          <p:cNvPr id="166" name="Google Shape;166;p19"/>
          <p:cNvPicPr preferRelativeResize="0"/>
          <p:nvPr/>
        </p:nvPicPr>
        <p:blipFill>
          <a:blip r:embed="rId3">
            <a:alphaModFix/>
          </a:blip>
          <a:stretch>
            <a:fillRect/>
          </a:stretch>
        </p:blipFill>
        <p:spPr>
          <a:xfrm>
            <a:off x="2744688" y="3003900"/>
            <a:ext cx="292950" cy="292950"/>
          </a:xfrm>
          <a:prstGeom prst="rect">
            <a:avLst/>
          </a:prstGeom>
          <a:noFill/>
          <a:ln>
            <a:noFill/>
          </a:ln>
        </p:spPr>
      </p:pic>
      <p:pic>
        <p:nvPicPr>
          <p:cNvPr id="167" name="Google Shape;167;p19"/>
          <p:cNvPicPr preferRelativeResize="0"/>
          <p:nvPr/>
        </p:nvPicPr>
        <p:blipFill>
          <a:blip r:embed="rId3">
            <a:alphaModFix/>
          </a:blip>
          <a:stretch>
            <a:fillRect/>
          </a:stretch>
        </p:blipFill>
        <p:spPr>
          <a:xfrm>
            <a:off x="3061438" y="3003900"/>
            <a:ext cx="292950" cy="292950"/>
          </a:xfrm>
          <a:prstGeom prst="rect">
            <a:avLst/>
          </a:prstGeom>
          <a:noFill/>
          <a:ln>
            <a:noFill/>
          </a:ln>
        </p:spPr>
      </p:pic>
      <p:pic>
        <p:nvPicPr>
          <p:cNvPr id="168" name="Google Shape;168;p19"/>
          <p:cNvPicPr preferRelativeResize="0"/>
          <p:nvPr/>
        </p:nvPicPr>
        <p:blipFill>
          <a:blip r:embed="rId3">
            <a:alphaModFix/>
          </a:blip>
          <a:stretch>
            <a:fillRect/>
          </a:stretch>
        </p:blipFill>
        <p:spPr>
          <a:xfrm>
            <a:off x="3411938" y="3003900"/>
            <a:ext cx="292950" cy="292950"/>
          </a:xfrm>
          <a:prstGeom prst="rect">
            <a:avLst/>
          </a:prstGeom>
          <a:noFill/>
          <a:ln>
            <a:noFill/>
          </a:ln>
        </p:spPr>
      </p:pic>
      <p:pic>
        <p:nvPicPr>
          <p:cNvPr id="169" name="Google Shape;169;p19"/>
          <p:cNvPicPr preferRelativeResize="0"/>
          <p:nvPr/>
        </p:nvPicPr>
        <p:blipFill>
          <a:blip r:embed="rId3">
            <a:alphaModFix/>
          </a:blip>
          <a:stretch>
            <a:fillRect/>
          </a:stretch>
        </p:blipFill>
        <p:spPr>
          <a:xfrm>
            <a:off x="3762438" y="3003900"/>
            <a:ext cx="292950" cy="292950"/>
          </a:xfrm>
          <a:prstGeom prst="rect">
            <a:avLst/>
          </a:prstGeom>
          <a:noFill/>
          <a:ln>
            <a:noFill/>
          </a:ln>
        </p:spPr>
      </p:pic>
      <p:pic>
        <p:nvPicPr>
          <p:cNvPr id="170" name="Google Shape;170;p19"/>
          <p:cNvPicPr preferRelativeResize="0"/>
          <p:nvPr/>
        </p:nvPicPr>
        <p:blipFill>
          <a:blip r:embed="rId3">
            <a:alphaModFix/>
          </a:blip>
          <a:stretch>
            <a:fillRect/>
          </a:stretch>
        </p:blipFill>
        <p:spPr>
          <a:xfrm>
            <a:off x="2744688" y="3308700"/>
            <a:ext cx="292950" cy="292950"/>
          </a:xfrm>
          <a:prstGeom prst="rect">
            <a:avLst/>
          </a:prstGeom>
          <a:noFill/>
          <a:ln>
            <a:noFill/>
          </a:ln>
        </p:spPr>
      </p:pic>
      <p:pic>
        <p:nvPicPr>
          <p:cNvPr id="171" name="Google Shape;171;p19"/>
          <p:cNvPicPr preferRelativeResize="0"/>
          <p:nvPr/>
        </p:nvPicPr>
        <p:blipFill>
          <a:blip r:embed="rId3">
            <a:alphaModFix/>
          </a:blip>
          <a:stretch>
            <a:fillRect/>
          </a:stretch>
        </p:blipFill>
        <p:spPr>
          <a:xfrm>
            <a:off x="3061438" y="3308700"/>
            <a:ext cx="292950" cy="292950"/>
          </a:xfrm>
          <a:prstGeom prst="rect">
            <a:avLst/>
          </a:prstGeom>
          <a:noFill/>
          <a:ln>
            <a:noFill/>
          </a:ln>
        </p:spPr>
      </p:pic>
      <p:pic>
        <p:nvPicPr>
          <p:cNvPr id="172" name="Google Shape;172;p19"/>
          <p:cNvPicPr preferRelativeResize="0"/>
          <p:nvPr/>
        </p:nvPicPr>
        <p:blipFill>
          <a:blip r:embed="rId3">
            <a:alphaModFix/>
          </a:blip>
          <a:stretch>
            <a:fillRect/>
          </a:stretch>
        </p:blipFill>
        <p:spPr>
          <a:xfrm>
            <a:off x="3411938" y="3308700"/>
            <a:ext cx="292950" cy="292950"/>
          </a:xfrm>
          <a:prstGeom prst="rect">
            <a:avLst/>
          </a:prstGeom>
          <a:noFill/>
          <a:ln>
            <a:noFill/>
          </a:ln>
        </p:spPr>
      </p:pic>
      <p:pic>
        <p:nvPicPr>
          <p:cNvPr id="173" name="Google Shape;173;p19"/>
          <p:cNvPicPr preferRelativeResize="0"/>
          <p:nvPr/>
        </p:nvPicPr>
        <p:blipFill>
          <a:blip r:embed="rId3">
            <a:alphaModFix/>
          </a:blip>
          <a:stretch>
            <a:fillRect/>
          </a:stretch>
        </p:blipFill>
        <p:spPr>
          <a:xfrm>
            <a:off x="3762438" y="3308700"/>
            <a:ext cx="292950" cy="292950"/>
          </a:xfrm>
          <a:prstGeom prst="rect">
            <a:avLst/>
          </a:prstGeom>
          <a:noFill/>
          <a:ln>
            <a:noFill/>
          </a:ln>
        </p:spPr>
      </p:pic>
      <p:pic>
        <p:nvPicPr>
          <p:cNvPr id="174" name="Google Shape;174;p19"/>
          <p:cNvPicPr preferRelativeResize="0"/>
          <p:nvPr/>
        </p:nvPicPr>
        <p:blipFill>
          <a:blip r:embed="rId3">
            <a:alphaModFix/>
          </a:blip>
          <a:stretch>
            <a:fillRect/>
          </a:stretch>
        </p:blipFill>
        <p:spPr>
          <a:xfrm>
            <a:off x="2744688" y="3613500"/>
            <a:ext cx="292950" cy="292950"/>
          </a:xfrm>
          <a:prstGeom prst="rect">
            <a:avLst/>
          </a:prstGeom>
          <a:noFill/>
          <a:ln>
            <a:noFill/>
          </a:ln>
        </p:spPr>
      </p:pic>
      <p:pic>
        <p:nvPicPr>
          <p:cNvPr id="175" name="Google Shape;175;p19"/>
          <p:cNvPicPr preferRelativeResize="0"/>
          <p:nvPr/>
        </p:nvPicPr>
        <p:blipFill>
          <a:blip r:embed="rId3">
            <a:alphaModFix/>
          </a:blip>
          <a:stretch>
            <a:fillRect/>
          </a:stretch>
        </p:blipFill>
        <p:spPr>
          <a:xfrm>
            <a:off x="3061438" y="3613500"/>
            <a:ext cx="292950" cy="292950"/>
          </a:xfrm>
          <a:prstGeom prst="rect">
            <a:avLst/>
          </a:prstGeom>
          <a:noFill/>
          <a:ln>
            <a:noFill/>
          </a:ln>
        </p:spPr>
      </p:pic>
      <p:pic>
        <p:nvPicPr>
          <p:cNvPr id="176" name="Google Shape;176;p19"/>
          <p:cNvPicPr preferRelativeResize="0"/>
          <p:nvPr/>
        </p:nvPicPr>
        <p:blipFill>
          <a:blip r:embed="rId3">
            <a:alphaModFix/>
          </a:blip>
          <a:stretch>
            <a:fillRect/>
          </a:stretch>
        </p:blipFill>
        <p:spPr>
          <a:xfrm>
            <a:off x="3411938" y="3613500"/>
            <a:ext cx="292950" cy="292950"/>
          </a:xfrm>
          <a:prstGeom prst="rect">
            <a:avLst/>
          </a:prstGeom>
          <a:noFill/>
          <a:ln>
            <a:noFill/>
          </a:ln>
        </p:spPr>
      </p:pic>
      <p:pic>
        <p:nvPicPr>
          <p:cNvPr id="177" name="Google Shape;177;p19"/>
          <p:cNvPicPr preferRelativeResize="0"/>
          <p:nvPr/>
        </p:nvPicPr>
        <p:blipFill>
          <a:blip r:embed="rId3">
            <a:alphaModFix/>
          </a:blip>
          <a:stretch>
            <a:fillRect/>
          </a:stretch>
        </p:blipFill>
        <p:spPr>
          <a:xfrm>
            <a:off x="3762438" y="3613500"/>
            <a:ext cx="292950" cy="292950"/>
          </a:xfrm>
          <a:prstGeom prst="rect">
            <a:avLst/>
          </a:prstGeom>
          <a:noFill/>
          <a:ln>
            <a:noFill/>
          </a:ln>
        </p:spPr>
      </p:pic>
      <p:sp>
        <p:nvSpPr>
          <p:cNvPr id="178" name="Google Shape;178;p19"/>
          <p:cNvSpPr txBox="1"/>
          <p:nvPr/>
        </p:nvSpPr>
        <p:spPr>
          <a:xfrm>
            <a:off x="7079975" y="1925025"/>
            <a:ext cx="18348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b="1" u="sng">
                <a:latin typeface="Source Code Pro"/>
                <a:ea typeface="Source Code Pro"/>
                <a:cs typeface="Source Code Pro"/>
                <a:sym typeface="Source Code Pro"/>
              </a:rPr>
              <a:t>Training:</a:t>
            </a:r>
            <a:endParaRPr sz="700" b="1" u="sng">
              <a:latin typeface="Source Code Pro"/>
              <a:ea typeface="Source Code Pro"/>
              <a:cs typeface="Source Code Pro"/>
              <a:sym typeface="Source Code Pro"/>
            </a:endParaRPr>
          </a:p>
          <a:p>
            <a:pPr marL="0" lvl="0" indent="0" algn="l" rtl="0">
              <a:spcBef>
                <a:spcPts val="0"/>
              </a:spcBef>
              <a:spcAft>
                <a:spcPts val="0"/>
              </a:spcAft>
              <a:buNone/>
            </a:pPr>
            <a:endParaRPr sz="700" b="1" u="sng">
              <a:latin typeface="Source Code Pro"/>
              <a:ea typeface="Source Code Pro"/>
              <a:cs typeface="Source Code Pro"/>
              <a:sym typeface="Source Code Pro"/>
            </a:endParaRPr>
          </a:p>
          <a:p>
            <a:pPr marL="0" lvl="0" indent="0" algn="l" rtl="0">
              <a:spcBef>
                <a:spcPts val="0"/>
              </a:spcBef>
              <a:spcAft>
                <a:spcPts val="0"/>
              </a:spcAft>
              <a:buNone/>
            </a:pPr>
            <a:r>
              <a:rPr lang="en" sz="700">
                <a:latin typeface="Source Code Pro"/>
                <a:ea typeface="Source Code Pro"/>
                <a:cs typeface="Source Code Pro"/>
                <a:sym typeface="Source Code Pro"/>
              </a:rPr>
              <a:t>Taking all the user who does the intended action as our base population. In the next ‘t’ hour, if those users make a purchase then Target for those users will be 1 else 0. Using this target and the behavioural features of the users we create an ML model.</a:t>
            </a:r>
            <a:endParaRPr sz="700">
              <a:latin typeface="Source Code Pro"/>
              <a:ea typeface="Source Code Pro"/>
              <a:cs typeface="Source Code Pro"/>
              <a:sym typeface="Source Code Pro"/>
            </a:endParaRPr>
          </a:p>
          <a:p>
            <a:pPr marL="0" lvl="0" indent="0" algn="l" rtl="0">
              <a:spcBef>
                <a:spcPts val="0"/>
              </a:spcBef>
              <a:spcAft>
                <a:spcPts val="0"/>
              </a:spcAft>
              <a:buNone/>
            </a:pPr>
            <a:endParaRPr sz="700">
              <a:latin typeface="Source Code Pro"/>
              <a:ea typeface="Source Code Pro"/>
              <a:cs typeface="Source Code Pro"/>
              <a:sym typeface="Source Code Pro"/>
            </a:endParaRPr>
          </a:p>
          <a:p>
            <a:pPr marL="0" lvl="0" indent="0" algn="l" rtl="0">
              <a:spcBef>
                <a:spcPts val="0"/>
              </a:spcBef>
              <a:spcAft>
                <a:spcPts val="0"/>
              </a:spcAft>
              <a:buNone/>
            </a:pPr>
            <a:endParaRPr sz="700">
              <a:latin typeface="Source Code Pro"/>
              <a:ea typeface="Source Code Pro"/>
              <a:cs typeface="Source Code Pro"/>
              <a:sym typeface="Source Code Pro"/>
            </a:endParaRPr>
          </a:p>
          <a:p>
            <a:pPr marL="0" lvl="0" indent="0" algn="l" rtl="0">
              <a:spcBef>
                <a:spcPts val="0"/>
              </a:spcBef>
              <a:spcAft>
                <a:spcPts val="0"/>
              </a:spcAft>
              <a:buNone/>
            </a:pPr>
            <a:endParaRPr sz="700">
              <a:latin typeface="Source Code Pro"/>
              <a:ea typeface="Source Code Pro"/>
              <a:cs typeface="Source Code Pro"/>
              <a:sym typeface="Source Code Pro"/>
            </a:endParaRPr>
          </a:p>
          <a:p>
            <a:pPr marL="0" lvl="0" indent="0" algn="l" rtl="0">
              <a:spcBef>
                <a:spcPts val="0"/>
              </a:spcBef>
              <a:spcAft>
                <a:spcPts val="0"/>
              </a:spcAft>
              <a:buNone/>
            </a:pPr>
            <a:r>
              <a:rPr lang="en" sz="700" b="1" u="sng">
                <a:latin typeface="Source Code Pro"/>
                <a:ea typeface="Source Code Pro"/>
                <a:cs typeface="Source Code Pro"/>
                <a:sym typeface="Source Code Pro"/>
              </a:rPr>
              <a:t>Inference:</a:t>
            </a:r>
            <a:endParaRPr sz="700" b="1" u="sng">
              <a:latin typeface="Source Code Pro"/>
              <a:ea typeface="Source Code Pro"/>
              <a:cs typeface="Source Code Pro"/>
              <a:sym typeface="Source Code Pro"/>
            </a:endParaRPr>
          </a:p>
          <a:p>
            <a:pPr marL="0" lvl="0" indent="0" algn="l" rtl="0">
              <a:spcBef>
                <a:spcPts val="0"/>
              </a:spcBef>
              <a:spcAft>
                <a:spcPts val="0"/>
              </a:spcAft>
              <a:buNone/>
            </a:pPr>
            <a:endParaRPr sz="700" b="1" u="sng">
              <a:latin typeface="Source Code Pro"/>
              <a:ea typeface="Source Code Pro"/>
              <a:cs typeface="Source Code Pro"/>
              <a:sym typeface="Source Code Pro"/>
            </a:endParaRPr>
          </a:p>
          <a:p>
            <a:pPr marL="0" lvl="0" indent="0" algn="l" rtl="0">
              <a:spcBef>
                <a:spcPts val="0"/>
              </a:spcBef>
              <a:spcAft>
                <a:spcPts val="0"/>
              </a:spcAft>
              <a:buNone/>
            </a:pPr>
            <a:r>
              <a:rPr lang="en" sz="700">
                <a:latin typeface="Source Code Pro"/>
                <a:ea typeface="Source Code Pro"/>
                <a:cs typeface="Source Code Pro"/>
                <a:sym typeface="Source Code Pro"/>
              </a:rPr>
              <a:t>Whenever a user does an intended action (such as add_to_cart, add_to_wishlist, etc.) the ML model gets triggered and it scores each user on their propensity to buy a product in the next ‘t’ hours.</a:t>
            </a:r>
            <a:endParaRPr sz="700">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Words>
  <Application>Microsoft Office PowerPoint</Application>
  <PresentationFormat>On-screen Show (16:9)</PresentationFormat>
  <Paragraphs>55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Source Code Pro</vt:lpstr>
      <vt:lpstr>Arial</vt:lpstr>
      <vt:lpstr>Oswald</vt:lpstr>
      <vt:lpstr>Modern Writer</vt:lpstr>
      <vt:lpstr>Propensity Modeling for an E-Commerce Company</vt:lpstr>
      <vt:lpstr>Contents:</vt:lpstr>
      <vt:lpstr>Business Problem</vt:lpstr>
      <vt:lpstr>Data Summary</vt:lpstr>
      <vt:lpstr>Propensity Modeling - Concept</vt:lpstr>
      <vt:lpstr>Propensity Modeling - Real world examples</vt:lpstr>
      <vt:lpstr>Propensity Modeling - Trigger based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Propensity Modeling for an E-Commerce Company</dc:title>
  <cp:lastModifiedBy>Supriya Bhagat</cp:lastModifiedBy>
  <cp:revision>1</cp:revision>
  <dcterms:modified xsi:type="dcterms:W3CDTF">2022-06-30T10:45:06Z</dcterms:modified>
</cp:coreProperties>
</file>